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9" r:id="rId1"/>
    <p:sldMasterId id="2147483681" r:id="rId2"/>
  </p:sldMasterIdLst>
  <p:notesMasterIdLst>
    <p:notesMasterId r:id="rId23"/>
  </p:notesMasterIdLst>
  <p:sldIdLst>
    <p:sldId id="256" r:id="rId3"/>
    <p:sldId id="258" r:id="rId4"/>
    <p:sldId id="259" r:id="rId5"/>
    <p:sldId id="260" r:id="rId6"/>
    <p:sldId id="261" r:id="rId7"/>
    <p:sldId id="262" r:id="rId8"/>
    <p:sldId id="302" r:id="rId9"/>
    <p:sldId id="299" r:id="rId10"/>
    <p:sldId id="303" r:id="rId11"/>
    <p:sldId id="304" r:id="rId12"/>
    <p:sldId id="305" r:id="rId13"/>
    <p:sldId id="306" r:id="rId14"/>
    <p:sldId id="307" r:id="rId15"/>
    <p:sldId id="308" r:id="rId16"/>
    <p:sldId id="309" r:id="rId17"/>
    <p:sldId id="310" r:id="rId18"/>
    <p:sldId id="263" r:id="rId19"/>
    <p:sldId id="264" r:id="rId20"/>
    <p:sldId id="265" r:id="rId21"/>
    <p:sldId id="266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4"/>
      <p:bold r:id="rId25"/>
      <p:italic r:id="rId26"/>
      <p:boldItalic r:id="rId27"/>
    </p:embeddedFont>
    <p:embeddedFont>
      <p:font typeface="Roboto Medium" panose="02000000000000000000" pitchFamily="2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5533">
          <p15:clr>
            <a:srgbClr val="A4A3A4"/>
          </p15:clr>
        </p15:guide>
        <p15:guide id="2" pos="397">
          <p15:clr>
            <a:srgbClr val="9AA0A6"/>
          </p15:clr>
        </p15:guide>
        <p15:guide id="3" orient="horz" pos="3240">
          <p15:clr>
            <a:srgbClr val="9AA0A6"/>
          </p15:clr>
        </p15:guide>
        <p15:guide id="4" orient="horz">
          <p15:clr>
            <a:srgbClr val="747775"/>
          </p15:clr>
        </p15:guide>
        <p15:guide id="5" orient="horz" pos="51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0C2CE22-A964-4AE2-AB75-7630F5C3AC06}">
  <a:tblStyle styleId="{F0C2CE22-A964-4AE2-AB75-7630F5C3AC0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206" d="100"/>
          <a:sy n="206" d="100"/>
        </p:scale>
        <p:origin x="504" y="180"/>
      </p:cViewPr>
      <p:guideLst>
        <p:guide pos="5533"/>
        <p:guide pos="397"/>
        <p:guide orient="horz" pos="3240"/>
        <p:guide orient="horz"/>
        <p:guide orient="horz" pos="5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font" Target="fonts/font3.fntdata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font" Target="fonts/font2.fntdata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font" Target="fonts/font1.fntdata"/><Relationship Id="rId32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8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ableStyles" Target="tableStyles.xml"/><Relationship Id="rId8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9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3ce85d903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3ce85d903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de823becd0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de823becd0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0f7d84ce1d_0_2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0f7d84ce1d_0_2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f98075b259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f98075b259_0_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f98075b259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f98075b259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CEA0E8CD-540F-FF38-3D1E-7641C0440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D130D26F-3D6D-2A2C-2655-4A0D6C5288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83B0A02C-5BA6-7E89-1506-22E175E46C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18386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5832A58C-C483-BDA5-B7B2-8AD4FFCBAC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CA0E5E86-3F7F-D4C3-AEE3-CF87B81018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E33A9AC7-CD2D-6A9E-FE34-A153D881C6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72304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342330D5-A41E-ED01-C2BE-E874C7E242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5E7390A4-8674-1F23-C5E0-9E5BCA8E7DD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018095B6-8BCF-2B03-1EBE-A93581BF10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0878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554854CA-BAD6-F920-ED6F-A4213D3F7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853A8F7E-100C-4F6E-98FF-D9AFB469B4A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04579AD8-3266-EF50-DE3B-FDF2128E97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669719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BD3934F4-C020-9A77-A0BC-38D086835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3A99E317-1E64-0CE1-F663-6DBF561E80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13F6B042-8C77-771C-0FA9-C780E818CA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38844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90DCAB8-3D7C-D9A2-46EC-EC1B1AB2DF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75A9801D-87BF-1169-9AC3-8AAFEA160B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8B9FD91D-3605-14EE-CDBF-4830F48F4F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069706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E60E808E-F2BD-D578-45FE-7ECEFA9E0B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62E12EEC-3C46-5998-1164-C86DCC43DD9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D3965171-35A9-7415-93D7-C641F2082D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635777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9EE1373A-4858-2C13-0CA8-BA2CA14F35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FB807985-822E-538E-ACFC-BA5528B6B2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37107CE1-1C16-76EC-9D05-1EECAB6E65F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880642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5C71387B-72D8-C2B1-B466-90440A93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71F12AEB-96B6-4497-98F5-E51B46D981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853C63CD-44ED-FBA6-5717-E82C711AD4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85366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">
          <a:extLst>
            <a:ext uri="{FF2B5EF4-FFF2-40B4-BE49-F238E27FC236}">
              <a16:creationId xmlns:a16="http://schemas.microsoft.com/office/drawing/2014/main" id="{8EF29A8C-026A-A16B-4A5A-B6EA3B47C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df29b9fb24_0_69:notes">
            <a:extLst>
              <a:ext uri="{FF2B5EF4-FFF2-40B4-BE49-F238E27FC236}">
                <a16:creationId xmlns:a16="http://schemas.microsoft.com/office/drawing/2014/main" id="{34792EDB-6465-2875-A353-41B5D8B8AE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df29b9fb24_0_69:notes">
            <a:extLst>
              <a:ext uri="{FF2B5EF4-FFF2-40B4-BE49-F238E27FC236}">
                <a16:creationId xmlns:a16="http://schemas.microsoft.com/office/drawing/2014/main" id="{0E4C3221-A149-0E01-5784-4E2873F1BC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593168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f98075b259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f98075b259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104438fcaf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104438fcaf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0f7d84ce1d_0_38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2" name="Google Shape;232;g30f7d84ce1d_0_38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41727d1ac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41727d1ac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ИТУЛЬНЫЙ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l="100" r="100"/>
          <a:stretch/>
        </p:blipFill>
        <p:spPr>
          <a:xfrm>
            <a:off x="-17925" y="-10075"/>
            <a:ext cx="9194726" cy="518215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944650" y="4350425"/>
            <a:ext cx="8293200" cy="48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>
                <a:solidFill>
                  <a:schemeClr val="lt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title"/>
          </p:nvPr>
        </p:nvSpPr>
        <p:spPr>
          <a:xfrm>
            <a:off x="944650" y="1769200"/>
            <a:ext cx="7379700" cy="237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600"/>
              <a:buNone/>
              <a:defRPr sz="5600">
                <a:solidFill>
                  <a:schemeClr val="lt1"/>
                </a:solidFill>
              </a:defRPr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Белый слайд + заголовок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500550" y="1784775"/>
            <a:ext cx="7935300" cy="114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ш макет 1">
  <p:cSld name="CUSTOM_5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1"/>
          </p:nvPr>
        </p:nvSpPr>
        <p:spPr>
          <a:xfrm>
            <a:off x="500550" y="1426469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500"/>
              <a:buChar char="●"/>
              <a:defRPr sz="1500"/>
            </a:lvl1pPr>
            <a:lvl2pPr marL="914400" lvl="1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2pPr>
            <a:lvl3pPr marL="1371600" lvl="2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3pPr>
            <a:lvl4pPr marL="1828800" lvl="3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4pPr>
            <a:lvl5pPr marL="2286000" lvl="4" indent="-31115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  <a:defRPr sz="1300"/>
            </a:lvl5pPr>
            <a:lvl6pPr marL="2743200" lvl="5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6pPr>
            <a:lvl7pPr marL="3200400" lvl="6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●"/>
              <a:defRPr sz="1300"/>
            </a:lvl7pPr>
            <a:lvl8pPr marL="3657600" lvl="7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○"/>
              <a:defRPr sz="1300"/>
            </a:lvl8pPr>
            <a:lvl9pPr marL="4114800" lvl="8" indent="-311150" rtl="0">
              <a:lnSpc>
                <a:spcPct val="120000"/>
              </a:lnSpc>
              <a:spcBef>
                <a:spcPts val="300"/>
              </a:spcBef>
              <a:spcAft>
                <a:spcPts val="0"/>
              </a:spcAft>
              <a:buSzPts val="1300"/>
              <a:buChar char="■"/>
              <a:defRPr sz="1300"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Тема вебинара" type="twoColTx">
  <p:cSld name="TITLE_AND_TWO_COLUMNS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500550" y="821213"/>
            <a:ext cx="8520600" cy="19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subTitle" idx="1"/>
          </p:nvPr>
        </p:nvSpPr>
        <p:spPr>
          <a:xfrm>
            <a:off x="500550" y="457313"/>
            <a:ext cx="77967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subTitle" idx="2"/>
          </p:nvPr>
        </p:nvSpPr>
        <p:spPr>
          <a:xfrm>
            <a:off x="3135425" y="2978831"/>
            <a:ext cx="58563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500"/>
              <a:buNone/>
              <a:defRPr sz="15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2300"/>
              <a:buNone/>
              <a:defRPr sz="2300" b="1">
                <a:solidFill>
                  <a:srgbClr val="013D85"/>
                </a:solidFill>
              </a:defRPr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ubTitle" idx="3"/>
          </p:nvPr>
        </p:nvSpPr>
        <p:spPr>
          <a:xfrm>
            <a:off x="3135425" y="3278981"/>
            <a:ext cx="58563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ubTitle" idx="4"/>
          </p:nvPr>
        </p:nvSpPr>
        <p:spPr>
          <a:xfrm>
            <a:off x="3135425" y="3662550"/>
            <a:ext cx="5856300" cy="10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397">
          <p15:clr>
            <a:srgbClr val="FA7B17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ительный слайд">
  <p:cSld name="MAIN_POIN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  <p:pic>
        <p:nvPicPr>
          <p:cNvPr id="31" name="Google Shape;31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1425" y="396394"/>
            <a:ext cx="7706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О себе">
  <p:cSld name="CUSTOM_1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8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8"/>
          <p:cNvSpPr txBox="1">
            <a:spLocks noGrp="1"/>
          </p:cNvSpPr>
          <p:nvPr>
            <p:ph type="subTitle" idx="1"/>
          </p:nvPr>
        </p:nvSpPr>
        <p:spPr>
          <a:xfrm>
            <a:off x="3891775" y="1716281"/>
            <a:ext cx="4391700" cy="58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13D85"/>
              </a:buClr>
              <a:buSzPts val="1600"/>
              <a:buNone/>
              <a:defRPr sz="1600" b="1">
                <a:solidFill>
                  <a:srgbClr val="013D85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300"/>
              <a:buNone/>
              <a:defRPr sz="2300" b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8"/>
          <p:cNvSpPr txBox="1">
            <a:spLocks noGrp="1"/>
          </p:cNvSpPr>
          <p:nvPr>
            <p:ph type="subTitle" idx="2"/>
          </p:nvPr>
        </p:nvSpPr>
        <p:spPr>
          <a:xfrm>
            <a:off x="3891775" y="2252801"/>
            <a:ext cx="5095200" cy="251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Раздел+описание">
  <p:cSld name="SECTION_TITLE_AND_DESCRIPTIO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title"/>
          </p:nvPr>
        </p:nvSpPr>
        <p:spPr>
          <a:xfrm>
            <a:off x="609075" y="12208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ubTitle" idx="1"/>
          </p:nvPr>
        </p:nvSpPr>
        <p:spPr>
          <a:xfrm>
            <a:off x="609075" y="2916213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36550">
              <a:spcBef>
                <a:spcPts val="0"/>
              </a:spcBef>
              <a:spcAft>
                <a:spcPts val="0"/>
              </a:spcAft>
              <a:buSzPts val="1700"/>
              <a:buChar char="●"/>
              <a:defRPr/>
            </a:lvl1pPr>
            <a:lvl2pPr marL="914400" lvl="1" indent="-323850">
              <a:spcBef>
                <a:spcPts val="0"/>
              </a:spcBef>
              <a:spcAft>
                <a:spcPts val="0"/>
              </a:spcAft>
              <a:buSzPts val="1500"/>
              <a:buChar char="○"/>
              <a:defRPr/>
            </a:lvl2pPr>
            <a:lvl3pPr marL="1371600" lvl="2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marL="1828800" lvl="3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4pPr>
            <a:lvl5pPr marL="2286000" lvl="4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5pPr>
            <a:lvl6pPr marL="2743200" lvl="5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6pPr>
            <a:lvl7pPr marL="3200400" lvl="6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7pPr>
            <a:lvl8pPr marL="3657600" lvl="7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8pPr>
            <a:lvl9pPr marL="4114800" lvl="8" indent="-31115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1">
  <p:cSld name="CUSTOM_2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Font typeface="Courier New"/>
              <a:buNone/>
              <a:defRPr sz="11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с кодом 2">
  <p:cSld name="CUSTOM_2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590475" y="1364975"/>
            <a:ext cx="7988400" cy="3412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54725" y="1516446"/>
            <a:ext cx="82263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Courier New"/>
              <a:buNone/>
              <a:defRPr sz="110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None/>
              <a:defRPr sz="17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1">
  <p:cSld name="CUSTOM_4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ubTitle" idx="1"/>
          </p:nvPr>
        </p:nvSpPr>
        <p:spPr>
          <a:xfrm>
            <a:off x="544050" y="1350425"/>
            <a:ext cx="5316300" cy="904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8" name="Google Shape;58;p14"/>
          <p:cNvSpPr/>
          <p:nvPr/>
        </p:nvSpPr>
        <p:spPr>
          <a:xfrm>
            <a:off x="606200" y="2144231"/>
            <a:ext cx="7938600" cy="24645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subTitle" idx="2"/>
          </p:nvPr>
        </p:nvSpPr>
        <p:spPr>
          <a:xfrm>
            <a:off x="795050" y="2220038"/>
            <a:ext cx="7568100" cy="23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  <a:defRPr sz="17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Слайд КОД+ТЕКСТ 2">
  <p:cSld name="CUSTOM_4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362300" y="1384249"/>
            <a:ext cx="4748700" cy="3393300"/>
          </a:xfrm>
          <a:prstGeom prst="rect">
            <a:avLst/>
          </a:prstGeom>
          <a:solidFill>
            <a:srgbClr val="FBFBF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 txBox="1">
            <a:spLocks noGrp="1"/>
          </p:cNvSpPr>
          <p:nvPr>
            <p:ph type="subTitle" idx="1"/>
          </p:nvPr>
        </p:nvSpPr>
        <p:spPr>
          <a:xfrm>
            <a:off x="500550" y="1474819"/>
            <a:ext cx="4428600" cy="345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Courier New"/>
              <a:buNone/>
              <a:defRPr sz="1300">
                <a:latin typeface="Courier New"/>
                <a:ea typeface="Courier New"/>
                <a:cs typeface="Courier New"/>
                <a:sym typeface="Courier New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subTitle" idx="2"/>
          </p:nvPr>
        </p:nvSpPr>
        <p:spPr>
          <a:xfrm>
            <a:off x="5555275" y="1474819"/>
            <a:ext cx="3151200" cy="32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 sz="1300" b="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>
                <a:solidFill>
                  <a:schemeClr val="dk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Важный тезис крупным шрифтом " type="secHead">
  <p:cSld name="SECTION_HEAD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>
            <a:spLocks noGrp="1"/>
          </p:cNvSpPr>
          <p:nvPr>
            <p:ph type="title"/>
          </p:nvPr>
        </p:nvSpPr>
        <p:spPr>
          <a:xfrm>
            <a:off x="500550" y="1940306"/>
            <a:ext cx="79353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22" name="Google Shape;122;p2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Заголовок">
  <p:cSld name="CUSTOM_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0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5" Type="http://schemas.openxmlformats.org/officeDocument/2006/relationships/image" Target="../media/image1.png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16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blipFill>
          <a:blip r:embed="rId5">
            <a:alphaModFix/>
          </a:blip>
          <a:stretch>
            <a:fillRect/>
          </a:stretch>
        </a:blip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7"/>
          <p:cNvSpPr txBox="1">
            <a:spLocks noGrp="1"/>
          </p:cNvSpPr>
          <p:nvPr>
            <p:ph type="title"/>
          </p:nvPr>
        </p:nvSpPr>
        <p:spPr>
          <a:xfrm>
            <a:off x="500550" y="330736"/>
            <a:ext cx="8520600" cy="97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Roboto"/>
              <a:buNone/>
              <a:defRPr sz="3100" b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oboto"/>
              <a:buNone/>
              <a:defRPr sz="2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8" name="Google Shape;118;p27"/>
          <p:cNvSpPr txBox="1">
            <a:spLocks noGrp="1"/>
          </p:cNvSpPr>
          <p:nvPr>
            <p:ph type="body" idx="1"/>
          </p:nvPr>
        </p:nvSpPr>
        <p:spPr>
          <a:xfrm>
            <a:off x="424350" y="1578869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365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Roboto"/>
              <a:buChar char="●"/>
              <a:defRPr sz="17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238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Roboto"/>
              <a:buChar char="○"/>
              <a:defRPr sz="15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○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115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■"/>
              <a:defRPr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6.xml"/><Relationship Id="rId4" Type="http://schemas.openxmlformats.org/officeDocument/2006/relationships/image" Target="../media/image1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35"/>
          <p:cNvPicPr preferRelativeResize="0"/>
          <p:nvPr/>
        </p:nvPicPr>
        <p:blipFill rotWithShape="1">
          <a:blip r:embed="rId3">
            <a:alphaModFix/>
          </a:blip>
          <a:srcRect l="18598" r="18592"/>
          <a:stretch/>
        </p:blipFill>
        <p:spPr>
          <a:xfrm>
            <a:off x="-75950" y="-3216975"/>
            <a:ext cx="9408753" cy="836047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35"/>
          <p:cNvSpPr txBox="1"/>
          <p:nvPr/>
        </p:nvSpPr>
        <p:spPr>
          <a:xfrm>
            <a:off x="433125" y="1534950"/>
            <a:ext cx="75843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r>
              <a:rPr lang="ru-RU" sz="2000" b="1" dirty="0" err="1">
                <a:solidFill>
                  <a:schemeClr val="bg1"/>
                </a:solidFill>
              </a:rPr>
              <a:t>Огранизация</a:t>
            </a:r>
            <a:r>
              <a:rPr lang="ru-RU" sz="2000" b="1" dirty="0">
                <a:solidFill>
                  <a:schemeClr val="bg1"/>
                </a:solidFill>
              </a:rPr>
              <a:t> связности двух ЦОД с применением дизайна </a:t>
            </a:r>
            <a:r>
              <a:rPr lang="ru-RU" sz="2000" b="1" dirty="0" err="1">
                <a:solidFill>
                  <a:schemeClr val="bg1"/>
                </a:solidFill>
              </a:rPr>
              <a:t>Clos</a:t>
            </a:r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ru-RU" sz="2000" b="1" dirty="0" err="1">
                <a:solidFill>
                  <a:schemeClr val="bg1"/>
                </a:solidFill>
              </a:rPr>
              <a:t>topology</a:t>
            </a:r>
            <a:r>
              <a:rPr lang="ru-RU" sz="2000" b="1" dirty="0">
                <a:solidFill>
                  <a:schemeClr val="bg1"/>
                </a:solidFill>
              </a:rPr>
              <a:t> </a:t>
            </a:r>
            <a:r>
              <a:rPr lang="ru-RU" sz="2000" b="1" dirty="0" err="1">
                <a:solidFill>
                  <a:schemeClr val="bg1"/>
                </a:solidFill>
              </a:rPr>
              <a:t>Multisite</a:t>
            </a:r>
            <a:endParaRPr lang="ru-RU" sz="2000" dirty="0">
              <a:solidFill>
                <a:schemeClr val="bg1"/>
              </a:solidFill>
            </a:endParaRPr>
          </a:p>
        </p:txBody>
      </p:sp>
      <p:pic>
        <p:nvPicPr>
          <p:cNvPr id="148" name="Google Shape;14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13700" y="268875"/>
            <a:ext cx="822175" cy="284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35"/>
          <p:cNvSpPr/>
          <p:nvPr/>
        </p:nvSpPr>
        <p:spPr>
          <a:xfrm>
            <a:off x="629700" y="4138025"/>
            <a:ext cx="2920500" cy="426600"/>
          </a:xfrm>
          <a:prstGeom prst="roundRect">
            <a:avLst>
              <a:gd name="adj" fmla="val 16667"/>
            </a:avLst>
          </a:prstGeom>
          <a:solidFill>
            <a:srgbClr val="3F299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0" name="Google Shape;150;p35"/>
          <p:cNvSpPr txBox="1"/>
          <p:nvPr/>
        </p:nvSpPr>
        <p:spPr>
          <a:xfrm>
            <a:off x="1057035" y="4160993"/>
            <a:ext cx="2407800" cy="3785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>
              <a:lnSpc>
                <a:spcPct val="90000"/>
              </a:lnSpc>
            </a:pPr>
            <a:r>
              <a:rPr lang="ru-RU" b="1" dirty="0">
                <a:solidFill>
                  <a:schemeClr val="bg1"/>
                </a:solidFill>
              </a:rPr>
              <a:t>Дизайн сетей ЦОД</a:t>
            </a:r>
            <a:endParaRPr sz="100" dirty="0">
              <a:solidFill>
                <a:schemeClr val="bg1"/>
              </a:solidFill>
              <a:latin typeface="Roboto Medium"/>
              <a:ea typeface="Roboto Medium"/>
              <a:cs typeface="Roboto Medium"/>
              <a:sym typeface="Roboto Medium"/>
            </a:endParaRPr>
          </a:p>
        </p:txBody>
      </p:sp>
      <p:pic>
        <p:nvPicPr>
          <p:cNvPr id="151" name="Google Shape;151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409723" y="3083693"/>
            <a:ext cx="1548451" cy="166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7"/>
          <p:cNvSpPr txBox="1">
            <a:spLocks noGrp="1"/>
          </p:cNvSpPr>
          <p:nvPr>
            <p:ph type="title"/>
          </p:nvPr>
        </p:nvSpPr>
        <p:spPr>
          <a:xfrm>
            <a:off x="500550" y="313624"/>
            <a:ext cx="8520600" cy="184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3000" dirty="0">
                <a:solidFill>
                  <a:schemeClr val="tx1"/>
                </a:solidFill>
              </a:rPr>
              <a:t>Защита проекта</a:t>
            </a:r>
            <a:endParaRPr sz="3000" dirty="0">
              <a:solidFill>
                <a:schemeClr val="tx1"/>
              </a:solidFill>
            </a:endParaRPr>
          </a:p>
          <a:p>
            <a:pPr>
              <a:buSzPts val="1100"/>
            </a:pPr>
            <a:r>
              <a:rPr lang="ru" sz="3000" dirty="0">
                <a:solidFill>
                  <a:schemeClr val="tx1"/>
                </a:solidFill>
              </a:rPr>
              <a:t>Тема: </a:t>
            </a:r>
            <a:r>
              <a:rPr lang="ru-RU" dirty="0" err="1">
                <a:solidFill>
                  <a:schemeClr val="tx1"/>
                </a:solidFill>
              </a:rPr>
              <a:t>Огранизация</a:t>
            </a:r>
            <a:r>
              <a:rPr lang="ru-RU" dirty="0">
                <a:solidFill>
                  <a:schemeClr val="tx1"/>
                </a:solidFill>
              </a:rPr>
              <a:t> связности двух ЦОД с применением дизайна </a:t>
            </a:r>
            <a:r>
              <a:rPr lang="ru-RU" dirty="0" err="1">
                <a:solidFill>
                  <a:schemeClr val="tx1"/>
                </a:solidFill>
              </a:rPr>
              <a:t>Clos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topology</a:t>
            </a:r>
            <a:r>
              <a:rPr lang="ru-RU" dirty="0">
                <a:solidFill>
                  <a:schemeClr val="tx1"/>
                </a:solidFill>
              </a:rPr>
              <a:t> </a:t>
            </a:r>
            <a:r>
              <a:rPr lang="ru-RU" dirty="0" err="1">
                <a:solidFill>
                  <a:schemeClr val="tx1"/>
                </a:solidFill>
              </a:rPr>
              <a:t>Multisite</a:t>
            </a:r>
            <a:br>
              <a:rPr lang="ru-RU" dirty="0">
                <a:solidFill>
                  <a:schemeClr val="tx1"/>
                </a:solidFill>
              </a:rPr>
            </a:br>
            <a:endParaRPr sz="300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</a:endParaRPr>
          </a:p>
        </p:txBody>
      </p:sp>
      <p:sp>
        <p:nvSpPr>
          <p:cNvPr id="165" name="Google Shape;165;p37"/>
          <p:cNvSpPr txBox="1"/>
          <p:nvPr/>
        </p:nvSpPr>
        <p:spPr>
          <a:xfrm>
            <a:off x="5442300" y="4388226"/>
            <a:ext cx="3701700" cy="37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300" b="1" dirty="0">
                <a:solidFill>
                  <a:srgbClr val="3F299A"/>
                </a:solidFill>
                <a:latin typeface="Roboto"/>
                <a:ea typeface="Roboto"/>
                <a:cs typeface="Roboto"/>
                <a:sym typeface="Roboto"/>
              </a:rPr>
              <a:t>Сергеев Константин</a:t>
            </a:r>
            <a:endParaRPr sz="2300" b="1" dirty="0">
              <a:solidFill>
                <a:srgbClr val="3F299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38"/>
          <p:cNvSpPr txBox="1">
            <a:spLocks noGrp="1"/>
          </p:cNvSpPr>
          <p:nvPr>
            <p:ph type="title"/>
          </p:nvPr>
        </p:nvSpPr>
        <p:spPr>
          <a:xfrm>
            <a:off x="538550" y="348974"/>
            <a:ext cx="85206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План защиты</a:t>
            </a:r>
            <a:endParaRPr/>
          </a:p>
        </p:txBody>
      </p:sp>
      <p:sp>
        <p:nvSpPr>
          <p:cNvPr id="172" name="Google Shape;172;p38"/>
          <p:cNvSpPr/>
          <p:nvPr/>
        </p:nvSpPr>
        <p:spPr>
          <a:xfrm>
            <a:off x="1138125" y="149130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Цель и задачи проекта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3" name="Google Shape;173;p38"/>
          <p:cNvSpPr/>
          <p:nvPr/>
        </p:nvSpPr>
        <p:spPr>
          <a:xfrm>
            <a:off x="1138125" y="2071492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Какие технологии использовались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4" name="Google Shape;174;p38"/>
          <p:cNvSpPr/>
          <p:nvPr/>
        </p:nvSpPr>
        <p:spPr>
          <a:xfrm>
            <a:off x="1138125" y="2651676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Что получилось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38"/>
          <p:cNvSpPr/>
          <p:nvPr/>
        </p:nvSpPr>
        <p:spPr>
          <a:xfrm>
            <a:off x="1138125" y="324622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Выводы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cxnSp>
        <p:nvCxnSpPr>
          <p:cNvPr id="176" name="Google Shape;176;p38"/>
          <p:cNvCxnSpPr>
            <a:stCxn id="172" idx="1"/>
            <a:endCxn id="173" idx="1"/>
          </p:cNvCxnSpPr>
          <p:nvPr/>
        </p:nvCxnSpPr>
        <p:spPr>
          <a:xfrm>
            <a:off x="1138125" y="167940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7" name="Google Shape;177;p38"/>
          <p:cNvCxnSpPr>
            <a:stCxn id="173" idx="1"/>
            <a:endCxn id="174" idx="1"/>
          </p:cNvCxnSpPr>
          <p:nvPr/>
        </p:nvCxnSpPr>
        <p:spPr>
          <a:xfrm>
            <a:off x="1138125" y="2259592"/>
            <a:ext cx="600" cy="5802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8" name="Google Shape;178;p38"/>
          <p:cNvCxnSpPr>
            <a:stCxn id="174" idx="1"/>
            <a:endCxn id="175" idx="1"/>
          </p:cNvCxnSpPr>
          <p:nvPr/>
        </p:nvCxnSpPr>
        <p:spPr>
          <a:xfrm>
            <a:off x="1138125" y="2839776"/>
            <a:ext cx="600" cy="5946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179" name="Google Shape;179;p38"/>
          <p:cNvCxnSpPr>
            <a:stCxn id="175" idx="1"/>
            <a:endCxn id="180" idx="1"/>
          </p:cNvCxnSpPr>
          <p:nvPr/>
        </p:nvCxnSpPr>
        <p:spPr>
          <a:xfrm>
            <a:off x="1138125" y="3434325"/>
            <a:ext cx="600" cy="526800"/>
          </a:xfrm>
          <a:prstGeom prst="bentConnector3">
            <a:avLst>
              <a:gd name="adj1" fmla="val -39687500"/>
            </a:avLst>
          </a:prstGeom>
          <a:noFill/>
          <a:ln w="9525" cap="flat" cmpd="sng">
            <a:solidFill>
              <a:srgbClr val="3F299A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0" name="Google Shape;180;p38"/>
          <p:cNvSpPr/>
          <p:nvPr/>
        </p:nvSpPr>
        <p:spPr>
          <a:xfrm>
            <a:off x="1138137" y="3772875"/>
            <a:ext cx="3384900" cy="376200"/>
          </a:xfrm>
          <a:prstGeom prst="roundRect">
            <a:avLst>
              <a:gd name="adj" fmla="val 16667"/>
            </a:avLst>
          </a:prstGeom>
          <a:solidFill>
            <a:schemeClr val="lt2"/>
          </a:solidFill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162000" tIns="91425" rIns="16200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9"/>
          <p:cNvSpPr txBox="1"/>
          <p:nvPr/>
        </p:nvSpPr>
        <p:spPr>
          <a:xfrm>
            <a:off x="560500" y="324881"/>
            <a:ext cx="8520600" cy="130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Цел</a:t>
            </a:r>
            <a:r>
              <a:rPr lang="ru" sz="3000" b="1">
                <a:latin typeface="Roboto"/>
                <a:ea typeface="Roboto"/>
                <a:cs typeface="Roboto"/>
                <a:sym typeface="Roboto"/>
              </a:rPr>
              <a:t>ь и задачи</a:t>
            </a:r>
            <a:r>
              <a:rPr lang="ru" sz="3000" b="1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проекта</a:t>
            </a:r>
            <a:endParaRPr sz="3000" b="1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aphicFrame>
        <p:nvGraphicFramePr>
          <p:cNvPr id="186" name="Google Shape;186;p39"/>
          <p:cNvGraphicFramePr/>
          <p:nvPr>
            <p:extLst>
              <p:ext uri="{D42A27DB-BD31-4B8C-83A1-F6EECF244321}">
                <p14:modId xmlns:p14="http://schemas.microsoft.com/office/powerpoint/2010/main" val="619890057"/>
              </p:ext>
            </p:extLst>
          </p:nvPr>
        </p:nvGraphicFramePr>
        <p:xfrm>
          <a:off x="900461" y="978229"/>
          <a:ext cx="7264425" cy="3037690"/>
        </p:xfrm>
        <a:graphic>
          <a:graphicData uri="http://schemas.openxmlformats.org/drawingml/2006/table">
            <a:tbl>
              <a:tblPr>
                <a:noFill/>
                <a:tableStyleId>{F0C2CE22-A964-4AE2-AB75-7630F5C3AC06}</a:tableStyleId>
              </a:tblPr>
              <a:tblGrid>
                <a:gridCol w="514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два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POD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POD-199 POD-99)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по технологии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Clos 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связность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DCI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 panose="020B0604020202020204" pitchFamily="34" charset="0"/>
                        <a:buNone/>
                      </a:pP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Настроить растянутый </a:t>
                      </a:r>
                      <a:r>
                        <a:rPr lang="ru-RU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влан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  в двух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POD </a:t>
                      </a:r>
                      <a:r>
                        <a:rPr lang="ru-RU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( </a:t>
                      </a:r>
                      <a:r>
                        <a:rPr lang="en-US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Vlan99)</a:t>
                      </a:r>
                      <a:endParaRPr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 typeface="Arial" panose="020B0604020202020204" pitchFamily="34" charset="0"/>
                        <a:buNone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Настроить два  VRF в POD -199 - VRF13(изолированный, растянутый на оба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цода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), и VRF14 -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затерминировать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VRF14 на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фаерволлах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POD99 для связности с VRF 1 и 4 в  POD99</a:t>
                      </a:r>
                      <a:endParaRPr lang="en-US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4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5</a:t>
                      </a:r>
                      <a:r>
                        <a:rPr lang="ru" sz="14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.</a:t>
                      </a:r>
                      <a:endParaRPr lang="en-US" sz="14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Реализовать разные варианты отказоустойчивости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мультихоминг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(EVP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 ESI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Cisco VPC , </a:t>
                      </a:r>
                      <a:r>
                        <a:rPr lang="en-US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Mlag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для серверов</a:t>
                      </a:r>
                      <a:r>
                        <a:rPr lang="en-US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endParaRPr lang="ru-RU" sz="14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40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000"/>
              <a:t>Какие технологии использовались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199" name="Google Shape;199;p40"/>
          <p:cNvGraphicFramePr/>
          <p:nvPr>
            <p:extLst>
              <p:ext uri="{D42A27DB-BD31-4B8C-83A1-F6EECF244321}">
                <p14:modId xmlns:p14="http://schemas.microsoft.com/office/powerpoint/2010/main" val="2781660887"/>
              </p:ext>
            </p:extLst>
          </p:nvPr>
        </p:nvGraphicFramePr>
        <p:xfrm>
          <a:off x="952500" y="1897775"/>
          <a:ext cx="7239000" cy="2219810"/>
        </p:xfrm>
        <a:graphic>
          <a:graphicData uri="http://schemas.openxmlformats.org/drawingml/2006/table">
            <a:tbl>
              <a:tblPr>
                <a:noFill/>
                <a:tableStyleId>{F0C2CE22-A964-4AE2-AB75-7630F5C3AC06}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Underlay 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сети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iBgp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-</a:t>
                      </a:r>
                      <a:r>
                        <a:rPr lang="ru-RU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внутри </a:t>
                      </a: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Pod eBGP-DCI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BGP EVPN  VXLAN - </a:t>
                      </a:r>
                      <a:r>
                        <a:rPr lang="en-US" sz="1600" dirty="0" err="1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Ovrelay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POD199 – Cisco VPC</a:t>
                      </a:r>
                      <a:endParaRPr sz="1600" dirty="0">
                        <a:solidFill>
                          <a:schemeClr val="dk1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ru" sz="1600" b="1" dirty="0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4.</a:t>
                      </a:r>
                      <a:endParaRPr lang="en-US" sz="1600" b="1" dirty="0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None/>
                      </a:pPr>
                      <a:r>
                        <a:rPr lang="en-US" sz="1600" dirty="0">
                          <a:solidFill>
                            <a:schemeClr val="dk1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Pod 99- MLAG , ESI, LACP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Общая схема проекта</a:t>
            </a:r>
            <a:endParaRPr sz="3000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0BFFAC3-9C24-0F91-D133-F14A153A05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97" y="879240"/>
            <a:ext cx="8743806" cy="383400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C2AA2FA6-868F-FE90-6655-E82C31683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EC5284A1-AB92-C95B-2DF8-370D598029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Детали</a:t>
            </a:r>
            <a:endParaRPr sz="3000" dirty="0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ECEA8632-7B89-4B02-C47D-74E37023634E}"/>
              </a:ext>
            </a:extLst>
          </p:cNvPr>
          <p:cNvSpPr txBox="1"/>
          <p:nvPr/>
        </p:nvSpPr>
        <p:spPr>
          <a:xfrm>
            <a:off x="441882" y="966600"/>
            <a:ext cx="847467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POD99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Underlay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Overlay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настроены по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ibgp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65099, с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spine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коммутаторами в роли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RR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подключения хостов используется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lacp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Лифы попарно соединены с применением разных технологий – на одной паре использовал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Mlag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другой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ESI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– выбор для применения на проде пал в сторону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ESI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лаконичности конфига и отсутствия лишних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secondary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VTEP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FW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запирены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по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EBGP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65098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служат точкой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терминации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различных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внутри.</a:t>
            </a:r>
          </a:p>
          <a:p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Выделена пара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коммутаторов для взаимодействия с другими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и внешними каналами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фабрики.     Собран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HRP cluster.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Оборудование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Arista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veos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version: 4.29.1F  Huawei-USG 6000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POD199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Underlay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настроены по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ibgp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AS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65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99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spine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коммутаторами в роли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RR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подключения хостов используется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lacp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Лифы попарно соединены с применением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VPC.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Коммутаторы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BGW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используемые для взаимодействия с другими ЦОДами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вынесены в отдельную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AS 65999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Оборудование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LF-Spine cisco Nexus9000 C9300v Chassis NXOS: version 10.1(2)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BGW- Arista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veos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version: 4.29.1F </a:t>
            </a:r>
            <a:endParaRPr lang="ru-RU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1634788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EE3674F4-3203-F2D1-1CFE-059FD5F01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92E2F91D-8EEC-7765-AC1A-B58FC9FC130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Первый кейс – </a:t>
            </a:r>
            <a:r>
              <a:rPr lang="en-US" sz="3000" dirty="0"/>
              <a:t>stretched </a:t>
            </a:r>
            <a:r>
              <a:rPr lang="en-US" sz="3000" dirty="0" err="1"/>
              <a:t>Vlan</a:t>
            </a:r>
            <a:r>
              <a:rPr lang="en-US" sz="3000" dirty="0"/>
              <a:t> 99 </a:t>
            </a:r>
            <a:r>
              <a:rPr lang="ru-RU" sz="3000" dirty="0"/>
              <a:t>Схема</a:t>
            </a: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A5ABB7F-3A37-C9F7-0685-C3FF79E0F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550" y="826048"/>
            <a:ext cx="7532851" cy="4317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57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DC8C695-F205-BDE8-5F83-E00BF6E5C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5706F56A-2557-2838-F27D-50A8C41D00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Первый кейс – </a:t>
            </a:r>
            <a:r>
              <a:rPr lang="en-US" sz="3000" dirty="0"/>
              <a:t>stretched </a:t>
            </a:r>
            <a:r>
              <a:rPr lang="en-US" sz="3000" dirty="0" err="1"/>
              <a:t>Vlan</a:t>
            </a:r>
            <a:r>
              <a:rPr lang="en-US" sz="3000" dirty="0"/>
              <a:t> 99</a:t>
            </a:r>
            <a:endParaRPr sz="3000" dirty="0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FE33E40C-6975-14FB-52C6-229D3333BB70}"/>
              </a:ext>
            </a:extLst>
          </p:cNvPr>
          <p:cNvSpPr txBox="1"/>
          <p:nvPr/>
        </p:nvSpPr>
        <p:spPr>
          <a:xfrm>
            <a:off x="441882" y="966600"/>
            <a:ext cx="8474678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Применение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 Растянутый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влан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требуется для организации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Metro Cluster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Vsphere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NSX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либо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vSan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Streched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cluster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Нюанс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На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Ариста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растягивания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macvrf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используются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remote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local domain. 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Важным моментом является назначение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RD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BGW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на оба домена, в противном случае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маршруты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-2 летят только в одну сторону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L2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связность не работает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Пример конфига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address-family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DCI-EVPN activate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DCI-EVPN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domain remote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SPINE-EVPN activate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domain identifier 1:1</a:t>
            </a:r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vlan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99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</a:t>
            </a:r>
            <a:r>
              <a:rPr lang="en-US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rd</a:t>
            </a:r>
            <a:r>
              <a:rPr lang="en-US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b="1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domain all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10.88.243.33:99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route-target both 65199:19999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route-target import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domain remote 65999:19999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route-target export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domain remote 65999:19999</a:t>
            </a:r>
          </a:p>
          <a:p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redistribute learned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0369197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870CA3F-CF2E-8995-9151-3971BE2F6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B329023B-BB6E-38F5-3423-B389E3A892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Первый кейс – </a:t>
            </a:r>
            <a:r>
              <a:rPr lang="en-US" sz="3000" dirty="0"/>
              <a:t>stretched </a:t>
            </a:r>
            <a:r>
              <a:rPr lang="en-US" sz="3000" dirty="0" err="1"/>
              <a:t>Vlan</a:t>
            </a:r>
            <a:r>
              <a:rPr lang="en-US" sz="3000" dirty="0"/>
              <a:t> 99</a:t>
            </a:r>
            <a:endParaRPr sz="3000" dirty="0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B1A44BC6-6D43-7EEA-4D73-604757BC48E7}"/>
              </a:ext>
            </a:extLst>
          </p:cNvPr>
          <p:cNvSpPr txBox="1"/>
          <p:nvPr/>
        </p:nvSpPr>
        <p:spPr>
          <a:xfrm>
            <a:off x="441882" y="966601"/>
            <a:ext cx="8391129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Проверка работоспособности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r>
              <a:rPr lang="en-US" sz="700" dirty="0"/>
              <a:t>| Device Name | Network Address |</a:t>
            </a:r>
          </a:p>
          <a:p>
            <a:r>
              <a:rPr lang="en-US" sz="700" dirty="0"/>
              <a:t>|-------------|-------------------|</a:t>
            </a:r>
          </a:p>
          <a:p>
            <a:r>
              <a:rPr lang="en-US" sz="700" dirty="0"/>
              <a:t>| 199-esx1    | 192.168.99.1/24   |</a:t>
            </a:r>
          </a:p>
          <a:p>
            <a:r>
              <a:rPr lang="en-US" sz="700" dirty="0"/>
              <a:t>| 99-esx1     | 192.168.99.11/24  |</a:t>
            </a:r>
          </a:p>
          <a:p>
            <a:r>
              <a:rPr lang="en-US" sz="700" dirty="0"/>
              <a:t>| 99-esx4     | 192.168.99.44/24  |</a:t>
            </a:r>
          </a:p>
          <a:p>
            <a:endParaRPr lang="en-US" sz="700" dirty="0"/>
          </a:p>
          <a:p>
            <a:r>
              <a:rPr lang="en-US" sz="700" b="1" dirty="0"/>
              <a:t>199-esx1#ping </a:t>
            </a:r>
            <a:r>
              <a:rPr lang="en-US" sz="700" dirty="0" err="1"/>
              <a:t>vrf</a:t>
            </a:r>
            <a:r>
              <a:rPr lang="en-US" sz="700" dirty="0"/>
              <a:t> VRF_99 192.168.99.11</a:t>
            </a:r>
          </a:p>
          <a:p>
            <a:r>
              <a:rPr lang="en-US" sz="700" dirty="0"/>
              <a:t>PING 192.168.99.11 (192.168.99.11) 72(100) bytes of data.</a:t>
            </a:r>
          </a:p>
          <a:p>
            <a:r>
              <a:rPr lang="en-US" sz="700" dirty="0"/>
              <a:t>80 bytes from 192.168.99.11: </a:t>
            </a:r>
            <a:r>
              <a:rPr lang="en-US" sz="700" dirty="0" err="1"/>
              <a:t>icmp_seq</a:t>
            </a:r>
            <a:r>
              <a:rPr lang="en-US" sz="700" dirty="0"/>
              <a:t>=1 </a:t>
            </a:r>
            <a:r>
              <a:rPr lang="en-US" sz="700" dirty="0" err="1"/>
              <a:t>ttl</a:t>
            </a:r>
            <a:r>
              <a:rPr lang="en-US" sz="700" dirty="0"/>
              <a:t>=64 time=25.1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--- 192.168.99.11 ping statistics ---</a:t>
            </a:r>
          </a:p>
          <a:p>
            <a:r>
              <a:rPr lang="en-US" sz="700" dirty="0"/>
              <a:t>5 packets transmitted, 5 received, 0% packet loss, time 85ms</a:t>
            </a:r>
          </a:p>
          <a:p>
            <a:r>
              <a:rPr lang="en-US" sz="700" dirty="0" err="1"/>
              <a:t>rtt</a:t>
            </a:r>
            <a:r>
              <a:rPr lang="en-US" sz="700" dirty="0"/>
              <a:t> min/avg/max/</a:t>
            </a:r>
            <a:r>
              <a:rPr lang="en-US" sz="700" dirty="0" err="1"/>
              <a:t>mdev</a:t>
            </a:r>
            <a:r>
              <a:rPr lang="en-US" sz="700" dirty="0"/>
              <a:t> = 18.581/26.560/36.913/6.102 </a:t>
            </a:r>
            <a:r>
              <a:rPr lang="en-US" sz="700" dirty="0" err="1"/>
              <a:t>ms</a:t>
            </a:r>
            <a:r>
              <a:rPr lang="en-US" sz="700" dirty="0"/>
              <a:t>, pipe 2, </a:t>
            </a:r>
            <a:r>
              <a:rPr lang="en-US" sz="700" dirty="0" err="1"/>
              <a:t>ipg</a:t>
            </a:r>
            <a:r>
              <a:rPr lang="en-US" sz="700" dirty="0"/>
              <a:t>/</a:t>
            </a:r>
            <a:r>
              <a:rPr lang="en-US" sz="700" dirty="0" err="1"/>
              <a:t>ewma</a:t>
            </a:r>
            <a:r>
              <a:rPr lang="en-US" sz="700" dirty="0"/>
              <a:t> 21.286/26.104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199-esx1#</a:t>
            </a:r>
          </a:p>
          <a:p>
            <a:r>
              <a:rPr lang="en-US" sz="700" b="1" dirty="0"/>
              <a:t>199-esx1#ping </a:t>
            </a:r>
            <a:r>
              <a:rPr lang="en-US" sz="700" dirty="0" err="1"/>
              <a:t>vrf</a:t>
            </a:r>
            <a:r>
              <a:rPr lang="en-US" sz="700" dirty="0"/>
              <a:t> VRF_99 192.168.99.44</a:t>
            </a:r>
          </a:p>
          <a:p>
            <a:r>
              <a:rPr lang="en-US" sz="700" dirty="0"/>
              <a:t>PING 192.168.99.44 (192.168.99.44) 72(100) bytes of data.</a:t>
            </a:r>
          </a:p>
          <a:p>
            <a:r>
              <a:rPr lang="en-US" sz="700" dirty="0"/>
              <a:t>80 bytes from 192.168.99.44: </a:t>
            </a:r>
            <a:r>
              <a:rPr lang="en-US" sz="700" dirty="0" err="1"/>
              <a:t>icmp_seq</a:t>
            </a:r>
            <a:r>
              <a:rPr lang="en-US" sz="700" dirty="0"/>
              <a:t>=1 </a:t>
            </a:r>
            <a:r>
              <a:rPr lang="en-US" sz="700" dirty="0" err="1"/>
              <a:t>ttl</a:t>
            </a:r>
            <a:r>
              <a:rPr lang="en-US" sz="700" dirty="0"/>
              <a:t>=64 time=49.4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--- 192.168.99.44 ping statistics ---</a:t>
            </a:r>
          </a:p>
          <a:p>
            <a:r>
              <a:rPr lang="en-US" sz="700" dirty="0"/>
              <a:t>5 packets transmitted, 5 received, 0% packet loss, time 43ms</a:t>
            </a:r>
          </a:p>
          <a:p>
            <a:r>
              <a:rPr lang="en-US" sz="700" dirty="0" err="1"/>
              <a:t>rtt</a:t>
            </a:r>
            <a:r>
              <a:rPr lang="en-US" sz="700" dirty="0"/>
              <a:t> min/avg/max/</a:t>
            </a:r>
            <a:r>
              <a:rPr lang="en-US" sz="700" dirty="0" err="1"/>
              <a:t>mdev</a:t>
            </a:r>
            <a:r>
              <a:rPr lang="en-US" sz="700" dirty="0"/>
              <a:t> = 30.853/41.837/50.245/7.316 </a:t>
            </a:r>
            <a:r>
              <a:rPr lang="en-US" sz="700" dirty="0" err="1"/>
              <a:t>ms</a:t>
            </a:r>
            <a:r>
              <a:rPr lang="en-US" sz="700" dirty="0"/>
              <a:t>, pipe 5, </a:t>
            </a:r>
            <a:r>
              <a:rPr lang="en-US" sz="700" dirty="0" err="1"/>
              <a:t>ipg</a:t>
            </a:r>
            <a:r>
              <a:rPr lang="en-US" sz="700" dirty="0"/>
              <a:t>/</a:t>
            </a:r>
            <a:r>
              <a:rPr lang="en-US" sz="700" dirty="0" err="1"/>
              <a:t>ewma</a:t>
            </a:r>
            <a:r>
              <a:rPr lang="en-US" sz="700" dirty="0"/>
              <a:t> 10.964/45.102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b="1" dirty="0"/>
              <a:t>199-lf01# </a:t>
            </a:r>
            <a:r>
              <a:rPr lang="en-US" sz="700" b="1" dirty="0" err="1"/>
              <a:t>sh</a:t>
            </a:r>
            <a:r>
              <a:rPr lang="en-US" sz="700" b="1" dirty="0"/>
              <a:t> mac address-table </a:t>
            </a:r>
            <a:r>
              <a:rPr lang="en-US" sz="700" b="1" dirty="0" err="1"/>
              <a:t>vlan</a:t>
            </a:r>
            <a:r>
              <a:rPr lang="en-US" sz="700" b="1" dirty="0"/>
              <a:t> 99</a:t>
            </a:r>
          </a:p>
          <a:p>
            <a:r>
              <a:rPr lang="en-US" sz="700" dirty="0"/>
              <a:t>Legend:</a:t>
            </a:r>
          </a:p>
          <a:p>
            <a:r>
              <a:rPr lang="en-US" sz="700" dirty="0"/>
              <a:t>        * - primary entry, G - Gateway MAC, (R) - Routed MAC, O - Overlay MAC</a:t>
            </a:r>
          </a:p>
          <a:p>
            <a:r>
              <a:rPr lang="en-US" sz="700" dirty="0"/>
              <a:t>        age - seconds since last seen,+ - primary entry using </a:t>
            </a:r>
            <a:r>
              <a:rPr lang="en-US" sz="700" dirty="0" err="1"/>
              <a:t>vPC</a:t>
            </a:r>
            <a:r>
              <a:rPr lang="en-US" sz="700" dirty="0"/>
              <a:t> Peer-Link,</a:t>
            </a:r>
          </a:p>
          <a:p>
            <a:r>
              <a:rPr lang="en-US" sz="700" dirty="0"/>
              <a:t>        (T) - True, (F) - False, C - </a:t>
            </a:r>
            <a:r>
              <a:rPr lang="en-US" sz="700" dirty="0" err="1"/>
              <a:t>ControlPlane</a:t>
            </a:r>
            <a:r>
              <a:rPr lang="en-US" sz="700" dirty="0"/>
              <a:t> MAC, ~ - </a:t>
            </a:r>
            <a:r>
              <a:rPr lang="en-US" sz="700" dirty="0" err="1"/>
              <a:t>vsan</a:t>
            </a:r>
            <a:endParaRPr lang="en-US" sz="700" dirty="0"/>
          </a:p>
          <a:p>
            <a:r>
              <a:rPr lang="en-US" sz="700" dirty="0"/>
              <a:t>   VLAN     MAC Address      Type      age     Secure NTFY Ports</a:t>
            </a:r>
          </a:p>
          <a:p>
            <a:r>
              <a:rPr lang="en-US" sz="700" dirty="0"/>
              <a:t>---------+-----------------+--------+---------+------+----+------------------</a:t>
            </a:r>
          </a:p>
          <a:p>
            <a:r>
              <a:rPr lang="en-US" sz="700" dirty="0"/>
              <a:t>C   99     5000.00d5.5dc0   dynamic  0         F      </a:t>
            </a:r>
            <a:r>
              <a:rPr lang="en-US" sz="700" dirty="0" err="1"/>
              <a:t>F</a:t>
            </a:r>
            <a:r>
              <a:rPr lang="en-US" sz="700" dirty="0"/>
              <a:t>    nve1(10.199.244.33)</a:t>
            </a:r>
          </a:p>
          <a:p>
            <a:r>
              <a:rPr lang="en-US" sz="700" dirty="0"/>
              <a:t>*   99     5000.00d8.ac19   dynamic  0         F      </a:t>
            </a:r>
            <a:r>
              <a:rPr lang="en-US" sz="700" dirty="0" err="1"/>
              <a:t>F</a:t>
            </a:r>
            <a:r>
              <a:rPr lang="en-US" sz="700" dirty="0"/>
              <a:t>    Po5</a:t>
            </a:r>
          </a:p>
          <a:p>
            <a:r>
              <a:rPr lang="en-US" sz="700" dirty="0"/>
              <a:t>G   99     500d.0000.1b08   static   -         F      </a:t>
            </a:r>
            <a:r>
              <a:rPr lang="en-US" sz="700" dirty="0" err="1"/>
              <a:t>F</a:t>
            </a:r>
            <a:r>
              <a:rPr lang="en-US" sz="700" dirty="0"/>
              <a:t>    </a:t>
            </a:r>
            <a:r>
              <a:rPr lang="en-US" sz="700" dirty="0" err="1"/>
              <a:t>vPC</a:t>
            </a:r>
            <a:r>
              <a:rPr lang="en-US" sz="700" dirty="0"/>
              <a:t> Peer-Link(R)</a:t>
            </a:r>
          </a:p>
          <a:p>
            <a:r>
              <a:rPr lang="en-US" sz="700" dirty="0"/>
              <a:t>G   99     5018.0000.1b08   static   -         F      </a:t>
            </a:r>
            <a:r>
              <a:rPr lang="en-US" sz="700" dirty="0" err="1"/>
              <a:t>F</a:t>
            </a:r>
            <a:r>
              <a:rPr lang="en-US" sz="700" dirty="0"/>
              <a:t>    sup-eth1(R)</a:t>
            </a:r>
          </a:p>
          <a:p>
            <a:endParaRPr lang="en-US" sz="800" dirty="0"/>
          </a:p>
          <a:p>
            <a:r>
              <a:rPr lang="ru-RU" sz="800" dirty="0"/>
              <a:t>Как видно – связность есть.</a:t>
            </a:r>
            <a:endParaRPr lang="en-US" sz="800" dirty="0"/>
          </a:p>
          <a:p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3DD214F-F0F4-B7F8-62C9-32B28CD98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2426" y="1308938"/>
            <a:ext cx="4629253" cy="31584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85211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4669616E-4CFB-4566-9ADE-AE07258CD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545AC086-BC07-69C0-B23C-663B0D74AF4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Второй кейс – </a:t>
            </a:r>
            <a:r>
              <a:rPr lang="en-US" sz="3000" dirty="0"/>
              <a:t>stretched VRF13 </a:t>
            </a:r>
            <a:r>
              <a:rPr lang="ru-RU" sz="3000" dirty="0"/>
              <a:t>Схема</a:t>
            </a:r>
            <a:endParaRPr sz="3000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EA93098-6826-5935-172E-151935878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50" y="829843"/>
            <a:ext cx="7511604" cy="426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1325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EFD410E3-71E5-2EC3-9CB1-64BA53725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D2A7F585-46DD-D711-AC20-6EEA3C9F396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Второй кейс – </a:t>
            </a:r>
            <a:r>
              <a:rPr lang="en-US" sz="3000" dirty="0"/>
              <a:t>stretched VRF_13</a:t>
            </a:r>
            <a:endParaRPr sz="3000" dirty="0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A27A2398-C2B8-D934-D094-DC4C25FBF300}"/>
              </a:ext>
            </a:extLst>
          </p:cNvPr>
          <p:cNvSpPr txBox="1"/>
          <p:nvPr/>
        </p:nvSpPr>
        <p:spPr>
          <a:xfrm>
            <a:off x="441882" y="966600"/>
            <a:ext cx="847467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Применение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 Применяется для растягивания подсетей управления между двумя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цодами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в том числе менеджмент сети хостов,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vcentre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т.д.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в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Metrocluster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VSphere</a:t>
            </a:r>
            <a:endParaRPr lang="en-US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Нюанс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На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Ариста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растягивания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VRF_13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обязательно выставить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next-hope-self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нейбора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специальной командой только для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Route-type5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,если навесить общей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роут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мапой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то перестанут лететь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type2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type3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маршруты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Остальные настройки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 отличаются от обычных внутри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цода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Пример конфига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bgw01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address-family </a:t>
            </a:r>
            <a:r>
              <a:rPr lang="en-US" sz="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endParaRPr lang="en-US" sz="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DCI-EVPN activate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DCI-EVPN domain remote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SPINE-EVPN activate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domain identifier 1:1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</a:t>
            </a:r>
            <a:r>
              <a:rPr lang="en-US" sz="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neighbor default next-hop-self received-</a:t>
            </a:r>
            <a:r>
              <a:rPr lang="en-US" sz="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sz="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-routes route-type </a:t>
            </a:r>
            <a:r>
              <a:rPr lang="en-US" sz="800" b="1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ip</a:t>
            </a:r>
            <a:r>
              <a:rPr lang="en-US" sz="8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-prefix inter-domain</a:t>
            </a:r>
          </a:p>
          <a:p>
            <a:endParaRPr lang="en-US" sz="8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</a:t>
            </a:r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VRF_13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</a:t>
            </a:r>
            <a:r>
              <a:rPr lang="en-US" sz="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rd</a:t>
            </a:r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65881:19913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route-target import </a:t>
            </a:r>
            <a:r>
              <a:rPr lang="en-US" sz="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65199:19913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route-target export </a:t>
            </a:r>
            <a:r>
              <a:rPr lang="en-US" sz="8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65199:19913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!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address-family ipv4</a:t>
            </a:r>
          </a:p>
          <a:p>
            <a:r>
              <a:rPr lang="en-US" sz="8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redistribute connected</a:t>
            </a:r>
            <a:endParaRPr lang="ru-RU" sz="800" dirty="0"/>
          </a:p>
        </p:txBody>
      </p:sp>
    </p:spTree>
    <p:extLst>
      <p:ext uri="{BB962C8B-B14F-4D97-AF65-F5344CB8AC3E}">
        <p14:creationId xmlns:p14="http://schemas.microsoft.com/office/powerpoint/2010/main" val="721647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B5043321-F679-3287-E01D-104CF1743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021B9256-79D3-8760-BE17-63F15C2516B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Второй кейс – </a:t>
            </a:r>
            <a:r>
              <a:rPr lang="en-US" sz="3000" dirty="0"/>
              <a:t>stretched VRF_13</a:t>
            </a:r>
            <a:endParaRPr sz="3000" dirty="0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1EFFFEE9-732D-B9EC-0C7A-57A4B5B0880C}"/>
              </a:ext>
            </a:extLst>
          </p:cNvPr>
          <p:cNvSpPr txBox="1"/>
          <p:nvPr/>
        </p:nvSpPr>
        <p:spPr>
          <a:xfrm>
            <a:off x="441882" y="966600"/>
            <a:ext cx="8474678" cy="43242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Проверка работоспособности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800" dirty="0"/>
          </a:p>
          <a:p>
            <a:r>
              <a:rPr lang="en-US" sz="700" dirty="0"/>
              <a:t>| Device Name |   Network Address |</a:t>
            </a:r>
          </a:p>
          <a:p>
            <a:r>
              <a:rPr lang="en-US" sz="700" dirty="0"/>
              <a:t>|-------------------|--------------------------|</a:t>
            </a:r>
          </a:p>
          <a:p>
            <a:r>
              <a:rPr lang="en-US" sz="700" dirty="0"/>
              <a:t>| 199-esx1       | 192.168.13.1/24     |</a:t>
            </a:r>
          </a:p>
          <a:p>
            <a:r>
              <a:rPr lang="en-US" sz="700" dirty="0"/>
              <a:t>| 199-lf01/02    | 192.168.13.254/24 |</a:t>
            </a:r>
          </a:p>
          <a:p>
            <a:r>
              <a:rPr lang="en-US" sz="700" dirty="0"/>
              <a:t>| 99-lf04 lo13   | 192.168.134.4/32   |</a:t>
            </a:r>
          </a:p>
          <a:p>
            <a:r>
              <a:rPr lang="en-US" sz="700" dirty="0"/>
              <a:t>| 199-bgw1      | 192.168.133.3/32   |</a:t>
            </a:r>
          </a:p>
          <a:p>
            <a:endParaRPr lang="en-US" sz="700" dirty="0"/>
          </a:p>
          <a:p>
            <a:r>
              <a:rPr lang="en-US" sz="700" dirty="0"/>
              <a:t>199-esx1#</a:t>
            </a:r>
          </a:p>
          <a:p>
            <a:r>
              <a:rPr lang="en-US" sz="700" b="1" dirty="0"/>
              <a:t>199-esx1#ping </a:t>
            </a:r>
            <a:r>
              <a:rPr lang="en-US" sz="700" b="1" dirty="0" err="1"/>
              <a:t>vrf</a:t>
            </a:r>
            <a:r>
              <a:rPr lang="en-US" sz="700" b="1" dirty="0"/>
              <a:t> VRF_13 </a:t>
            </a:r>
            <a:r>
              <a:rPr lang="en-US" sz="700" dirty="0"/>
              <a:t>192.168.13.254</a:t>
            </a:r>
          </a:p>
          <a:p>
            <a:r>
              <a:rPr lang="en-US" sz="700" dirty="0"/>
              <a:t>PING 192.168.13.254 (192.168.13.254) 72(100) bytes of data.</a:t>
            </a:r>
          </a:p>
          <a:p>
            <a:r>
              <a:rPr lang="en-US" sz="700" dirty="0"/>
              <a:t>80 bytes from 192.168.13.254: </a:t>
            </a:r>
            <a:r>
              <a:rPr lang="en-US" sz="700" dirty="0" err="1"/>
              <a:t>icmp_seq</a:t>
            </a:r>
            <a:r>
              <a:rPr lang="en-US" sz="700" dirty="0"/>
              <a:t>=1 </a:t>
            </a:r>
            <a:r>
              <a:rPr lang="en-US" sz="700" dirty="0" err="1"/>
              <a:t>ttl</a:t>
            </a:r>
            <a:r>
              <a:rPr lang="en-US" sz="700" dirty="0"/>
              <a:t>=255 time=17.6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--- 192.168.13.254 ping statistics ---</a:t>
            </a:r>
          </a:p>
          <a:p>
            <a:r>
              <a:rPr lang="en-US" sz="700" dirty="0"/>
              <a:t>5 packets transmitted, 4 received, 20% packet loss, time 67ms</a:t>
            </a:r>
          </a:p>
          <a:p>
            <a:r>
              <a:rPr lang="en-US" sz="700" dirty="0" err="1"/>
              <a:t>rtt</a:t>
            </a:r>
            <a:r>
              <a:rPr lang="en-US" sz="700" dirty="0"/>
              <a:t> min/avg/max/</a:t>
            </a:r>
            <a:r>
              <a:rPr lang="en-US" sz="700" dirty="0" err="1"/>
              <a:t>mdev</a:t>
            </a:r>
            <a:r>
              <a:rPr lang="en-US" sz="700" dirty="0"/>
              <a:t> = 4.530/16.924/40.128/14.364 </a:t>
            </a:r>
            <a:r>
              <a:rPr lang="en-US" sz="700" dirty="0" err="1"/>
              <a:t>ms</a:t>
            </a:r>
            <a:r>
              <a:rPr lang="en-US" sz="700" dirty="0"/>
              <a:t>, pipe 2, </a:t>
            </a:r>
            <a:r>
              <a:rPr lang="en-US" sz="700" dirty="0" err="1"/>
              <a:t>ipg</a:t>
            </a:r>
            <a:r>
              <a:rPr lang="en-US" sz="700" dirty="0"/>
              <a:t>/</a:t>
            </a:r>
            <a:r>
              <a:rPr lang="en-US" sz="700" dirty="0" err="1"/>
              <a:t>ewma</a:t>
            </a:r>
            <a:r>
              <a:rPr lang="en-US" sz="700" dirty="0"/>
              <a:t> 16.850/17.855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199-esx1#</a:t>
            </a:r>
          </a:p>
          <a:p>
            <a:r>
              <a:rPr lang="en-US" sz="700" b="1" dirty="0"/>
              <a:t>199-esx1#ping </a:t>
            </a:r>
            <a:r>
              <a:rPr lang="en-US" sz="700" b="1" dirty="0" err="1"/>
              <a:t>vrf</a:t>
            </a:r>
            <a:r>
              <a:rPr lang="en-US" sz="700" b="1" dirty="0"/>
              <a:t> VRF_13</a:t>
            </a:r>
            <a:r>
              <a:rPr lang="en-US" sz="700" dirty="0"/>
              <a:t> 192.168.134.4</a:t>
            </a:r>
          </a:p>
          <a:p>
            <a:r>
              <a:rPr lang="en-US" sz="700" dirty="0"/>
              <a:t>PING 192.168.134.4 (192.168.134.4) 72(100) bytes of data.</a:t>
            </a:r>
          </a:p>
          <a:p>
            <a:r>
              <a:rPr lang="en-US" sz="700" dirty="0"/>
              <a:t>80 bytes from 192.168.134.4: </a:t>
            </a:r>
            <a:r>
              <a:rPr lang="en-US" sz="700" dirty="0" err="1"/>
              <a:t>icmp_seq</a:t>
            </a:r>
            <a:r>
              <a:rPr lang="en-US" sz="700" dirty="0"/>
              <a:t>=1 </a:t>
            </a:r>
            <a:r>
              <a:rPr lang="en-US" sz="700" dirty="0" err="1"/>
              <a:t>ttl</a:t>
            </a:r>
            <a:r>
              <a:rPr lang="en-US" sz="700" dirty="0"/>
              <a:t>=61 time=71.8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--- 192.168.134.4 ping statistics ---</a:t>
            </a:r>
          </a:p>
          <a:p>
            <a:r>
              <a:rPr lang="en-US" sz="700" dirty="0"/>
              <a:t>5 packets transmitted, 5 received, 0% packet loss, time 44ms</a:t>
            </a:r>
          </a:p>
          <a:p>
            <a:r>
              <a:rPr lang="en-US" sz="700" dirty="0" err="1"/>
              <a:t>rtt</a:t>
            </a:r>
            <a:r>
              <a:rPr lang="en-US" sz="700" dirty="0"/>
              <a:t> min/avg/max/</a:t>
            </a:r>
            <a:r>
              <a:rPr lang="en-US" sz="700" dirty="0" err="1"/>
              <a:t>mdev</a:t>
            </a:r>
            <a:r>
              <a:rPr lang="en-US" sz="700" dirty="0"/>
              <a:t> = 37.603/53.756/71.859/11.963 </a:t>
            </a:r>
            <a:r>
              <a:rPr lang="en-US" sz="700" dirty="0" err="1"/>
              <a:t>ms</a:t>
            </a:r>
            <a:r>
              <a:rPr lang="en-US" sz="700" dirty="0"/>
              <a:t>, pipe 5, </a:t>
            </a:r>
            <a:r>
              <a:rPr lang="en-US" sz="700" dirty="0" err="1"/>
              <a:t>ipg</a:t>
            </a:r>
            <a:r>
              <a:rPr lang="en-US" sz="700" dirty="0"/>
              <a:t>/</a:t>
            </a:r>
            <a:r>
              <a:rPr lang="en-US" sz="700" dirty="0" err="1"/>
              <a:t>ewma</a:t>
            </a:r>
            <a:r>
              <a:rPr lang="en-US" sz="700" dirty="0"/>
              <a:t> 11.093/61.958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199-esx1#</a:t>
            </a:r>
          </a:p>
          <a:p>
            <a:r>
              <a:rPr lang="en-US" sz="700" b="1" dirty="0"/>
              <a:t>199-esx1#ping </a:t>
            </a:r>
            <a:r>
              <a:rPr lang="en-US" sz="700" b="1" dirty="0" err="1"/>
              <a:t>vrf</a:t>
            </a:r>
            <a:r>
              <a:rPr lang="en-US" sz="700" b="1" dirty="0"/>
              <a:t> VRF_13 </a:t>
            </a:r>
            <a:r>
              <a:rPr lang="en-US" sz="700" dirty="0"/>
              <a:t>192.168.133.3</a:t>
            </a:r>
          </a:p>
          <a:p>
            <a:r>
              <a:rPr lang="en-US" sz="700" dirty="0"/>
              <a:t>PING 192.168.133.3 (192.168.133.3) 72(100) bytes of data.</a:t>
            </a:r>
          </a:p>
          <a:p>
            <a:r>
              <a:rPr lang="en-US" sz="700" dirty="0"/>
              <a:t>80 bytes from 192.168.133.3: </a:t>
            </a:r>
            <a:r>
              <a:rPr lang="en-US" sz="700" dirty="0" err="1"/>
              <a:t>icmp_seq</a:t>
            </a:r>
            <a:r>
              <a:rPr lang="en-US" sz="700" dirty="0"/>
              <a:t>=1 </a:t>
            </a:r>
            <a:r>
              <a:rPr lang="en-US" sz="700" dirty="0" err="1"/>
              <a:t>ttl</a:t>
            </a:r>
            <a:r>
              <a:rPr lang="en-US" sz="700" dirty="0"/>
              <a:t>=63 time=17.4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--- 192.168.133.3 ping statistics ---</a:t>
            </a:r>
          </a:p>
          <a:p>
            <a:r>
              <a:rPr lang="en-US" sz="700" dirty="0"/>
              <a:t>5 packets transmitted, 5 received, 0% packet loss, time 62ms</a:t>
            </a:r>
          </a:p>
          <a:p>
            <a:r>
              <a:rPr lang="en-US" sz="700" dirty="0" err="1"/>
              <a:t>rtt</a:t>
            </a:r>
            <a:r>
              <a:rPr lang="en-US" sz="700" dirty="0"/>
              <a:t> min/avg/max/</a:t>
            </a:r>
            <a:r>
              <a:rPr lang="en-US" sz="700" dirty="0" err="1"/>
              <a:t>mdev</a:t>
            </a:r>
            <a:r>
              <a:rPr lang="en-US" sz="700" dirty="0"/>
              <a:t> = 10.607/21.976/39.333/11.352 </a:t>
            </a:r>
            <a:r>
              <a:rPr lang="en-US" sz="700" dirty="0" err="1"/>
              <a:t>ms</a:t>
            </a:r>
            <a:r>
              <a:rPr lang="en-US" sz="700" dirty="0"/>
              <a:t>, pipe 2, </a:t>
            </a:r>
            <a:r>
              <a:rPr lang="en-US" sz="700" dirty="0" err="1"/>
              <a:t>ipg</a:t>
            </a:r>
            <a:r>
              <a:rPr lang="en-US" sz="700" dirty="0"/>
              <a:t>/</a:t>
            </a:r>
            <a:r>
              <a:rPr lang="en-US" sz="700" dirty="0" err="1"/>
              <a:t>ewma</a:t>
            </a:r>
            <a:r>
              <a:rPr lang="en-US" sz="700" dirty="0"/>
              <a:t> 15.738/20.390 </a:t>
            </a:r>
            <a:r>
              <a:rPr lang="en-US" sz="700" dirty="0" err="1"/>
              <a:t>ms</a:t>
            </a:r>
            <a:endParaRPr lang="en-US" sz="700" dirty="0"/>
          </a:p>
          <a:p>
            <a:endParaRPr lang="en-US" sz="700" dirty="0"/>
          </a:p>
          <a:p>
            <a:r>
              <a:rPr lang="en-US" sz="700" b="1" dirty="0"/>
              <a:t>199-esx1#tracer </a:t>
            </a:r>
            <a:r>
              <a:rPr lang="en-US" sz="700" b="1" dirty="0" err="1"/>
              <a:t>vrf</a:t>
            </a:r>
            <a:r>
              <a:rPr lang="en-US" sz="700" b="1" dirty="0"/>
              <a:t> VRF_13 </a:t>
            </a:r>
            <a:r>
              <a:rPr lang="en-US" sz="700" dirty="0"/>
              <a:t>192.168.134.4</a:t>
            </a:r>
          </a:p>
          <a:p>
            <a:r>
              <a:rPr lang="en-US" sz="700" dirty="0"/>
              <a:t>traceroute to 192.168.134.4 (192.168.134.4), 30 hops max, 60 byte packets</a:t>
            </a:r>
          </a:p>
          <a:p>
            <a:r>
              <a:rPr lang="en-US" sz="700" dirty="0"/>
              <a:t> 1  _gateway (192.168.13.254)  6.178 </a:t>
            </a:r>
            <a:r>
              <a:rPr lang="en-US" sz="700" dirty="0" err="1"/>
              <a:t>ms</a:t>
            </a:r>
            <a:r>
              <a:rPr lang="en-US" sz="700" dirty="0"/>
              <a:t>  5.016 </a:t>
            </a:r>
            <a:r>
              <a:rPr lang="en-US" sz="700" dirty="0" err="1"/>
              <a:t>ms</a:t>
            </a:r>
            <a:r>
              <a:rPr lang="en-US" sz="700" dirty="0"/>
              <a:t>  31.834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 2  192.168.133.3 (192.168.133.3)  33.280 </a:t>
            </a:r>
            <a:r>
              <a:rPr lang="en-US" sz="700" dirty="0" err="1"/>
              <a:t>ms</a:t>
            </a:r>
            <a:r>
              <a:rPr lang="en-US" sz="700" dirty="0"/>
              <a:t>  37.753 </a:t>
            </a:r>
            <a:r>
              <a:rPr lang="en-US" sz="700" dirty="0" err="1"/>
              <a:t>ms</a:t>
            </a:r>
            <a:r>
              <a:rPr lang="en-US" sz="700" dirty="0"/>
              <a:t>  39.276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 3  192.168.233.11 (192.168.233.11)  57.508 </a:t>
            </a:r>
            <a:r>
              <a:rPr lang="en-US" sz="700" dirty="0" err="1"/>
              <a:t>ms</a:t>
            </a:r>
            <a:r>
              <a:rPr lang="en-US" sz="700" dirty="0"/>
              <a:t>  60.184 </a:t>
            </a:r>
            <a:r>
              <a:rPr lang="en-US" sz="700" dirty="0" err="1"/>
              <a:t>ms</a:t>
            </a:r>
            <a:r>
              <a:rPr lang="en-US" sz="700" dirty="0"/>
              <a:t>  64.006 </a:t>
            </a:r>
            <a:r>
              <a:rPr lang="en-US" sz="700" dirty="0" err="1"/>
              <a:t>ms</a:t>
            </a:r>
            <a:endParaRPr lang="en-US" sz="700" dirty="0"/>
          </a:p>
          <a:p>
            <a:r>
              <a:rPr lang="en-US" sz="700" dirty="0"/>
              <a:t> 4  192.168.134.4 (192.168.134.4)  85.399 </a:t>
            </a:r>
            <a:r>
              <a:rPr lang="en-US" sz="700" dirty="0" err="1"/>
              <a:t>ms</a:t>
            </a:r>
            <a:r>
              <a:rPr lang="en-US" sz="700" dirty="0"/>
              <a:t>  88.140 </a:t>
            </a:r>
            <a:r>
              <a:rPr lang="en-US" sz="700" dirty="0" err="1"/>
              <a:t>ms</a:t>
            </a:r>
            <a:r>
              <a:rPr lang="en-US" sz="700" dirty="0"/>
              <a:t>  93.686 </a:t>
            </a:r>
            <a:r>
              <a:rPr lang="en-US" sz="700" dirty="0" err="1"/>
              <a:t>ms</a:t>
            </a:r>
            <a:endParaRPr lang="en-US" sz="700" dirty="0"/>
          </a:p>
          <a:p>
            <a:endParaRPr lang="ru-RU" sz="8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CA6D5EF-7D58-1866-C320-55E99CB323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4002" y="1426624"/>
            <a:ext cx="4473340" cy="3519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222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5FD770C-8884-CAF1-F7BD-8A0C1E2511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A1F2F149-24C2-FC17-8AAC-CE9F0D15D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000" dirty="0"/>
              <a:t>Третий кейс –</a:t>
            </a:r>
            <a:r>
              <a:rPr lang="en-US" sz="3000" dirty="0"/>
              <a:t>VRF1</a:t>
            </a:r>
            <a:r>
              <a:rPr lang="ru-RU" sz="3000" dirty="0"/>
              <a:t>4</a:t>
            </a:r>
            <a:r>
              <a:rPr lang="en-US" sz="3000" dirty="0"/>
              <a:t> </a:t>
            </a:r>
            <a:r>
              <a:rPr lang="ru-RU" sz="3000" dirty="0"/>
              <a:t>Схема</a:t>
            </a:r>
            <a:endParaRPr sz="3000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800DBBD-66A0-4968-C43D-A061CD802B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12" y="956936"/>
            <a:ext cx="7023039" cy="4023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5082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022F3178-1C8A-8010-CE15-04C36872C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5B050358-54E6-B2C0-25B9-6F6B24232F0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/>
              <a:t>Третий кейс –</a:t>
            </a:r>
            <a:r>
              <a:rPr lang="en-US" sz="3000" dirty="0"/>
              <a:t>VRF1</a:t>
            </a:r>
            <a:r>
              <a:rPr lang="ru-RU" sz="3000" dirty="0"/>
              <a:t>4</a:t>
            </a:r>
            <a:endParaRPr sz="3000" dirty="0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E99AFA35-3667-C833-8B10-3D07B990BDA5}"/>
              </a:ext>
            </a:extLst>
          </p:cNvPr>
          <p:cNvSpPr txBox="1"/>
          <p:nvPr/>
        </p:nvSpPr>
        <p:spPr>
          <a:xfrm>
            <a:off x="441882" y="966600"/>
            <a:ext cx="8474678" cy="40626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Применение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— В конкретном кейсе, будет растянут на маршрутизаторы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VRF_Internet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поскольку пока нет пиринга с провайдерами во втором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pod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 и также ему будет доступно взаимодействие с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VRF_Internet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либо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DMZ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из первого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pod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Нюанс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– На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Ариста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для растягивания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VRF_13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обязательно выставить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next-hope-self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для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нейбора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специальной командой только для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Route-type5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,если навесить общей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роут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мапой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то перестанут лететь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type2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type3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маршруты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Остальные настройки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bgp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 отличаются от обычных внутри </a:t>
            </a:r>
            <a:r>
              <a:rPr lang="ru-RU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цода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. Также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multihope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5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между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BGW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и </a:t>
            </a:r>
            <a:r>
              <a:rPr lang="en-US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blf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ru-RU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не хватило для адекватного импорта маршрутов в таблицу, в связи с чем увеличил до 10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Пример конфига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99blf01</a:t>
            </a: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 </a:t>
            </a:r>
          </a:p>
          <a:p>
            <a:r>
              <a:rPr lang="en-US" sz="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vrf</a:t>
            </a:r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VRF_14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</a:t>
            </a:r>
            <a:r>
              <a:rPr lang="en-US" sz="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rd</a:t>
            </a:r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65099:19914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route-target import </a:t>
            </a:r>
            <a:r>
              <a:rPr lang="en-US" sz="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65199:19914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route-target export </a:t>
            </a:r>
            <a:r>
              <a:rPr lang="en-US" sz="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evpn</a:t>
            </a:r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65199:19914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router-id 10.99.14.1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timers </a:t>
            </a:r>
            <a:r>
              <a:rPr lang="en-US" sz="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bgp</a:t>
            </a:r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60 180 min-hold-time 3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10.99.14.0 remote-as 65098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10.99.14.0 next-hop-self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10.99.14.0 update-source Ethernet4.14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10.99.14.0 route-map DEFAULT in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10.99.14.3 remote-as 65098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10.99.14.3 next-hop-self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10.99.14.3 update-source Ethernet4.14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10.99.14.3 </a:t>
            </a:r>
            <a:r>
              <a:rPr lang="en-US" sz="600" dirty="0" err="1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ebgp-multihop</a:t>
            </a:r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10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neighbor 10.99.14.3 route-map DEFAULT in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!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address-family ipv4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no neighbor 10.99.2.0 activate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neighbor 10.99.14.0 activate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neighbor 10.99.14.3 activate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network 10.99.14.0/31</a:t>
            </a:r>
          </a:p>
          <a:p>
            <a:r>
              <a:rPr lang="en-US" sz="6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        redistribute connected</a:t>
            </a:r>
          </a:p>
        </p:txBody>
      </p:sp>
    </p:spTree>
    <p:extLst>
      <p:ext uri="{BB962C8B-B14F-4D97-AF65-F5344CB8AC3E}">
        <p14:creationId xmlns:p14="http://schemas.microsoft.com/office/powerpoint/2010/main" val="14141711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3">
          <a:extLst>
            <a:ext uri="{FF2B5EF4-FFF2-40B4-BE49-F238E27FC236}">
              <a16:creationId xmlns:a16="http://schemas.microsoft.com/office/drawing/2014/main" id="{85D1D358-836E-91A6-3A5C-9B444042A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41">
            <a:extLst>
              <a:ext uri="{FF2B5EF4-FFF2-40B4-BE49-F238E27FC236}">
                <a16:creationId xmlns:a16="http://schemas.microsoft.com/office/drawing/2014/main" id="{EC84CCB0-DD67-FA7E-B808-08FDD38702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ru-RU" sz="3000" dirty="0"/>
              <a:t>Третий кейс –</a:t>
            </a:r>
            <a:r>
              <a:rPr lang="en-US" sz="3000" dirty="0"/>
              <a:t>VRF1</a:t>
            </a:r>
            <a:r>
              <a:rPr lang="ru-RU" sz="3000" dirty="0"/>
              <a:t>4</a:t>
            </a:r>
            <a:endParaRPr sz="3000" dirty="0"/>
          </a:p>
        </p:txBody>
      </p:sp>
      <p:sp>
        <p:nvSpPr>
          <p:cNvPr id="2" name="TextBox 5">
            <a:extLst>
              <a:ext uri="{FF2B5EF4-FFF2-40B4-BE49-F238E27FC236}">
                <a16:creationId xmlns:a16="http://schemas.microsoft.com/office/drawing/2014/main" id="{A20EF37E-4AD6-ACE5-6298-E9502795637B}"/>
              </a:ext>
            </a:extLst>
          </p:cNvPr>
          <p:cNvSpPr txBox="1"/>
          <p:nvPr/>
        </p:nvSpPr>
        <p:spPr>
          <a:xfrm>
            <a:off x="500550" y="934109"/>
            <a:ext cx="8474678" cy="39395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Проверка работоспособности </a:t>
            </a:r>
            <a:r>
              <a:rPr lang="en-US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RU" sz="800" dirty="0"/>
          </a:p>
          <a:p>
            <a:r>
              <a:rPr lang="en-US" sz="600" dirty="0"/>
              <a:t>| Device Name | Network Address    | VRF Name       |</a:t>
            </a:r>
          </a:p>
          <a:p>
            <a:r>
              <a:rPr lang="en-US" sz="600" dirty="0"/>
              <a:t>|--------------------|---------------------------|-------------------- |</a:t>
            </a:r>
          </a:p>
          <a:p>
            <a:r>
              <a:rPr lang="en-US" sz="600" dirty="0"/>
              <a:t>| 199-esx1        | 192.168.14.1/24     | VRF_14            |</a:t>
            </a:r>
          </a:p>
          <a:p>
            <a:r>
              <a:rPr lang="en-US" sz="600" dirty="0"/>
              <a:t>| 199-lf01/02     | 192.168.14.254/24 | VRF_14            |</a:t>
            </a:r>
          </a:p>
          <a:p>
            <a:r>
              <a:rPr lang="en-US" sz="600" dirty="0"/>
              <a:t>| 99-esx4          | 192.168.4.1/24        | VRF_CORE_4 |</a:t>
            </a:r>
          </a:p>
          <a:p>
            <a:r>
              <a:rPr lang="en-US" sz="600" dirty="0"/>
              <a:t>| 99-esx1          | 192.168.1.1/24        | VRF_CORE_1 |</a:t>
            </a:r>
          </a:p>
          <a:p>
            <a:r>
              <a:rPr lang="en-US" sz="600" dirty="0"/>
              <a:t>| 199-bgw2 LO14| 192.168.144.4/32 | VRF_14           |</a:t>
            </a:r>
          </a:p>
          <a:p>
            <a:r>
              <a:rPr lang="en-US" sz="600" dirty="0"/>
              <a:t>| 99-lf01 p2p fw01| 10.99.14.1/31       | VRF_14          |</a:t>
            </a:r>
          </a:p>
          <a:p>
            <a:endParaRPr lang="en-US" sz="600" dirty="0"/>
          </a:p>
          <a:p>
            <a:r>
              <a:rPr lang="en-US" sz="500" b="1" dirty="0"/>
              <a:t>199-esx1#ping </a:t>
            </a:r>
            <a:r>
              <a:rPr lang="en-US" sz="500" b="1" dirty="0" err="1"/>
              <a:t>vrf</a:t>
            </a:r>
            <a:r>
              <a:rPr lang="en-US" sz="500" b="1" dirty="0"/>
              <a:t> VRF_14 </a:t>
            </a:r>
            <a:r>
              <a:rPr lang="en-US" sz="500" dirty="0"/>
              <a:t>192.168.14.254</a:t>
            </a:r>
          </a:p>
          <a:p>
            <a:r>
              <a:rPr lang="en-US" sz="500" dirty="0"/>
              <a:t>PING 192.168.14.254 (192.168.14.254) 72(100) bytes of data.</a:t>
            </a:r>
          </a:p>
          <a:p>
            <a:r>
              <a:rPr lang="en-US" sz="500" dirty="0"/>
              <a:t>80 bytes from 192.168.14.254: </a:t>
            </a:r>
            <a:r>
              <a:rPr lang="en-US" sz="500" dirty="0" err="1"/>
              <a:t>icmp_seq</a:t>
            </a:r>
            <a:r>
              <a:rPr lang="en-US" sz="500" dirty="0"/>
              <a:t>=1 </a:t>
            </a:r>
            <a:r>
              <a:rPr lang="en-US" sz="500" dirty="0" err="1"/>
              <a:t>ttl</a:t>
            </a:r>
            <a:r>
              <a:rPr lang="en-US" sz="500" dirty="0"/>
              <a:t>=255 time=38.1 </a:t>
            </a:r>
            <a:r>
              <a:rPr lang="en-US" sz="500" dirty="0" err="1"/>
              <a:t>ms</a:t>
            </a:r>
            <a:endParaRPr lang="en-US" sz="500" dirty="0"/>
          </a:p>
          <a:p>
            <a:r>
              <a:rPr lang="en-US" sz="500" dirty="0"/>
              <a:t>--- 192.168.14.254 ping statistics ---</a:t>
            </a:r>
          </a:p>
          <a:p>
            <a:r>
              <a:rPr lang="en-US" sz="500" dirty="0"/>
              <a:t>5 packets transmitted, 5 received, 0% packet loss, time 72ms</a:t>
            </a:r>
          </a:p>
          <a:p>
            <a:r>
              <a:rPr lang="en-US" sz="500" dirty="0" err="1"/>
              <a:t>rtt</a:t>
            </a:r>
            <a:r>
              <a:rPr lang="en-US" sz="500" dirty="0"/>
              <a:t> min/avg/max/</a:t>
            </a:r>
            <a:r>
              <a:rPr lang="en-US" sz="500" dirty="0" err="1"/>
              <a:t>mdev</a:t>
            </a:r>
            <a:r>
              <a:rPr lang="en-US" sz="500" dirty="0"/>
              <a:t> = 5.631/26.029/38.188/11.138 </a:t>
            </a:r>
            <a:r>
              <a:rPr lang="en-US" sz="500" dirty="0" err="1"/>
              <a:t>ms</a:t>
            </a:r>
            <a:r>
              <a:rPr lang="en-US" sz="500" dirty="0"/>
              <a:t>, pipe 4, </a:t>
            </a:r>
            <a:r>
              <a:rPr lang="en-US" sz="500" dirty="0" err="1"/>
              <a:t>ipg</a:t>
            </a:r>
            <a:r>
              <a:rPr lang="en-US" sz="500" dirty="0"/>
              <a:t>/</a:t>
            </a:r>
            <a:r>
              <a:rPr lang="en-US" sz="500" dirty="0" err="1"/>
              <a:t>ewma</a:t>
            </a:r>
            <a:r>
              <a:rPr lang="en-US" sz="500" dirty="0"/>
              <a:t> 18.149/31.419 </a:t>
            </a:r>
            <a:r>
              <a:rPr lang="en-US" sz="500" dirty="0" err="1"/>
              <a:t>ms</a:t>
            </a:r>
            <a:endParaRPr lang="en-US" sz="500" dirty="0"/>
          </a:p>
          <a:p>
            <a:r>
              <a:rPr lang="en-US" sz="500" dirty="0"/>
              <a:t>199-esx1#</a:t>
            </a:r>
          </a:p>
          <a:p>
            <a:r>
              <a:rPr lang="en-US" sz="500" b="1" dirty="0"/>
              <a:t>199-esx1#ping </a:t>
            </a:r>
            <a:r>
              <a:rPr lang="en-US" sz="500" b="1" dirty="0" err="1"/>
              <a:t>vrf</a:t>
            </a:r>
            <a:r>
              <a:rPr lang="en-US" sz="500" dirty="0"/>
              <a:t> </a:t>
            </a:r>
            <a:r>
              <a:rPr lang="en-US" sz="500" b="1" dirty="0"/>
              <a:t>VRF_14 </a:t>
            </a:r>
            <a:r>
              <a:rPr lang="en-US" sz="500" dirty="0"/>
              <a:t>192.168.4.1</a:t>
            </a:r>
          </a:p>
          <a:p>
            <a:r>
              <a:rPr lang="en-US" sz="500" dirty="0"/>
              <a:t>PING 192.168.4.1 (192.168.4.1) 72(100) bytes of data.</a:t>
            </a:r>
          </a:p>
          <a:p>
            <a:r>
              <a:rPr lang="en-US" sz="500" dirty="0"/>
              <a:t>80 bytes from 192.168.4.1: </a:t>
            </a:r>
            <a:r>
              <a:rPr lang="en-US" sz="500" dirty="0" err="1"/>
              <a:t>icmp_seq</a:t>
            </a:r>
            <a:r>
              <a:rPr lang="en-US" sz="500" dirty="0"/>
              <a:t>=1 </a:t>
            </a:r>
            <a:r>
              <a:rPr lang="en-US" sz="500" dirty="0" err="1"/>
              <a:t>ttl</a:t>
            </a:r>
            <a:r>
              <a:rPr lang="en-US" sz="500" dirty="0"/>
              <a:t>=57 time=167 </a:t>
            </a:r>
            <a:r>
              <a:rPr lang="en-US" sz="500" dirty="0" err="1"/>
              <a:t>ms</a:t>
            </a:r>
            <a:endParaRPr lang="en-US" sz="500" dirty="0"/>
          </a:p>
          <a:p>
            <a:r>
              <a:rPr lang="en-US" sz="500" dirty="0"/>
              <a:t>--- 192.168.4.1 ping statistics ---</a:t>
            </a:r>
          </a:p>
          <a:p>
            <a:r>
              <a:rPr lang="en-US" sz="500" dirty="0"/>
              <a:t>5 packets transmitted, 5 received, 0% packet loss, time 43ms</a:t>
            </a:r>
          </a:p>
          <a:p>
            <a:r>
              <a:rPr lang="en-US" sz="500" dirty="0" err="1"/>
              <a:t>rtt</a:t>
            </a:r>
            <a:r>
              <a:rPr lang="en-US" sz="500" dirty="0"/>
              <a:t> min/avg/max/</a:t>
            </a:r>
            <a:r>
              <a:rPr lang="en-US" sz="500" dirty="0" err="1"/>
              <a:t>mdev</a:t>
            </a:r>
            <a:r>
              <a:rPr lang="en-US" sz="500" dirty="0"/>
              <a:t> = 146.055/154.562/167.779/7.599 </a:t>
            </a:r>
            <a:r>
              <a:rPr lang="en-US" sz="500" dirty="0" err="1"/>
              <a:t>ms</a:t>
            </a:r>
            <a:r>
              <a:rPr lang="en-US" sz="500" dirty="0"/>
              <a:t>, pipe 5, </a:t>
            </a:r>
            <a:r>
              <a:rPr lang="en-US" sz="500" dirty="0" err="1"/>
              <a:t>ipg</a:t>
            </a:r>
            <a:r>
              <a:rPr lang="en-US" sz="500" dirty="0"/>
              <a:t>/</a:t>
            </a:r>
            <a:r>
              <a:rPr lang="en-US" sz="500" dirty="0" err="1"/>
              <a:t>ewma</a:t>
            </a:r>
            <a:r>
              <a:rPr lang="en-US" sz="500" dirty="0"/>
              <a:t> 10.989/160.751 </a:t>
            </a:r>
            <a:r>
              <a:rPr lang="en-US" sz="500" dirty="0" err="1"/>
              <a:t>ms</a:t>
            </a:r>
            <a:endParaRPr lang="en-US" sz="500" dirty="0"/>
          </a:p>
          <a:p>
            <a:r>
              <a:rPr lang="en-US" sz="500" dirty="0"/>
              <a:t>199-esx1#</a:t>
            </a:r>
          </a:p>
          <a:p>
            <a:r>
              <a:rPr lang="en-US" sz="500" dirty="0"/>
              <a:t>199-esx1#</a:t>
            </a:r>
            <a:r>
              <a:rPr lang="en-US" sz="500" b="1" dirty="0"/>
              <a:t>ping </a:t>
            </a:r>
            <a:r>
              <a:rPr lang="en-US" sz="500" b="1" dirty="0" err="1"/>
              <a:t>vrf</a:t>
            </a:r>
            <a:r>
              <a:rPr lang="en-US" sz="500" b="1" dirty="0"/>
              <a:t> VRF_14 </a:t>
            </a:r>
            <a:r>
              <a:rPr lang="en-US" sz="500" dirty="0"/>
              <a:t>192.168.1.1</a:t>
            </a:r>
          </a:p>
          <a:p>
            <a:r>
              <a:rPr lang="en-US" sz="500" dirty="0"/>
              <a:t>PING 192.168.1.1 (192.168.1.1) 72(100) bytes of data.</a:t>
            </a:r>
          </a:p>
          <a:p>
            <a:r>
              <a:rPr lang="en-US" sz="500" dirty="0"/>
              <a:t>80 bytes from 192.168.1.1: </a:t>
            </a:r>
            <a:r>
              <a:rPr lang="en-US" sz="500" dirty="0" err="1"/>
              <a:t>icmp_seq</a:t>
            </a:r>
            <a:r>
              <a:rPr lang="en-US" sz="500" dirty="0"/>
              <a:t>=1 </a:t>
            </a:r>
            <a:r>
              <a:rPr lang="en-US" sz="500" dirty="0" err="1"/>
              <a:t>ttl</a:t>
            </a:r>
            <a:r>
              <a:rPr lang="en-US" sz="500" dirty="0"/>
              <a:t>=59 time=35.8 </a:t>
            </a:r>
            <a:r>
              <a:rPr lang="en-US" sz="500" dirty="0" err="1"/>
              <a:t>ms</a:t>
            </a:r>
            <a:endParaRPr lang="en-US" sz="500" dirty="0"/>
          </a:p>
          <a:p>
            <a:r>
              <a:rPr lang="en-US" sz="500" dirty="0"/>
              <a:t>--- 192.168.1.1 ping statistics ---</a:t>
            </a:r>
          </a:p>
          <a:p>
            <a:r>
              <a:rPr lang="en-US" sz="500" dirty="0"/>
              <a:t>5 packets transmitted, 5 received, 0% packet loss, time 92ms</a:t>
            </a:r>
          </a:p>
          <a:p>
            <a:r>
              <a:rPr lang="en-US" sz="500" dirty="0" err="1"/>
              <a:t>rtt</a:t>
            </a:r>
            <a:r>
              <a:rPr lang="en-US" sz="500" dirty="0"/>
              <a:t> min/avg/max/</a:t>
            </a:r>
            <a:r>
              <a:rPr lang="en-US" sz="500" dirty="0" err="1"/>
              <a:t>mdev</a:t>
            </a:r>
            <a:r>
              <a:rPr lang="en-US" sz="500" dirty="0"/>
              <a:t> = 28.082/31.657/35.801/2.765 </a:t>
            </a:r>
            <a:r>
              <a:rPr lang="en-US" sz="500" dirty="0" err="1"/>
              <a:t>ms</a:t>
            </a:r>
            <a:r>
              <a:rPr lang="en-US" sz="500" dirty="0"/>
              <a:t>, pipe 3, </a:t>
            </a:r>
            <a:r>
              <a:rPr lang="en-US" sz="500" dirty="0" err="1"/>
              <a:t>ipg</a:t>
            </a:r>
            <a:r>
              <a:rPr lang="en-US" sz="500" dirty="0"/>
              <a:t>/</a:t>
            </a:r>
            <a:r>
              <a:rPr lang="en-US" sz="500" dirty="0" err="1"/>
              <a:t>ewma</a:t>
            </a:r>
            <a:r>
              <a:rPr lang="en-US" sz="500" dirty="0"/>
              <a:t> 23.226/33.623 </a:t>
            </a:r>
            <a:r>
              <a:rPr lang="en-US" sz="500" dirty="0" err="1"/>
              <a:t>ms</a:t>
            </a:r>
            <a:endParaRPr lang="en-US" sz="500" dirty="0"/>
          </a:p>
          <a:p>
            <a:r>
              <a:rPr lang="en-US" sz="500" dirty="0"/>
              <a:t>199-esx1#</a:t>
            </a:r>
          </a:p>
          <a:p>
            <a:br>
              <a:rPr lang="en-US" sz="500" dirty="0"/>
            </a:br>
            <a:r>
              <a:rPr lang="en-US" sz="500" b="1" dirty="0"/>
              <a:t>199-esx1#tracer </a:t>
            </a:r>
            <a:r>
              <a:rPr lang="en-US" sz="500" b="1" dirty="0" err="1"/>
              <a:t>vrf</a:t>
            </a:r>
            <a:r>
              <a:rPr lang="en-US" sz="500" b="1" dirty="0"/>
              <a:t> VRF_14 192.168.4.1</a:t>
            </a:r>
          </a:p>
          <a:p>
            <a:r>
              <a:rPr lang="en-US" sz="500" dirty="0"/>
              <a:t>traceroute to 192.168.4.1 (192.168.4.1), 30 hops max, 60 byte packets</a:t>
            </a:r>
          </a:p>
          <a:p>
            <a:r>
              <a:rPr lang="en-US" sz="500" dirty="0"/>
              <a:t> 1  _gateway (192.168.14.254)  26.303 </a:t>
            </a:r>
            <a:r>
              <a:rPr lang="en-US" sz="500" dirty="0" err="1"/>
              <a:t>ms</a:t>
            </a:r>
            <a:r>
              <a:rPr lang="en-US" sz="500" dirty="0"/>
              <a:t>  35.961 </a:t>
            </a:r>
            <a:r>
              <a:rPr lang="en-US" sz="500" dirty="0" err="1"/>
              <a:t>ms</a:t>
            </a:r>
            <a:r>
              <a:rPr lang="en-US" sz="500" dirty="0"/>
              <a:t>  36.441 </a:t>
            </a:r>
            <a:r>
              <a:rPr lang="en-US" sz="500" dirty="0" err="1"/>
              <a:t>ms</a:t>
            </a:r>
            <a:r>
              <a:rPr lang="en-US" sz="500" dirty="0"/>
              <a:t>         AG 199-lf01/02</a:t>
            </a:r>
          </a:p>
          <a:p>
            <a:r>
              <a:rPr lang="en-US" sz="500" dirty="0"/>
              <a:t> 2  192.168.144.4 (192.168.144.4)  37.824 </a:t>
            </a:r>
            <a:r>
              <a:rPr lang="en-US" sz="500" dirty="0" err="1"/>
              <a:t>ms</a:t>
            </a:r>
            <a:r>
              <a:rPr lang="en-US" sz="500" dirty="0"/>
              <a:t>  46.714 </a:t>
            </a:r>
            <a:r>
              <a:rPr lang="en-US" sz="500" dirty="0" err="1"/>
              <a:t>ms</a:t>
            </a:r>
            <a:r>
              <a:rPr lang="en-US" sz="500" dirty="0"/>
              <a:t>  48.555 </a:t>
            </a:r>
            <a:r>
              <a:rPr lang="en-US" sz="500" dirty="0" err="1"/>
              <a:t>ms</a:t>
            </a:r>
            <a:r>
              <a:rPr lang="en-US" sz="500" dirty="0"/>
              <a:t>     199-bgw02</a:t>
            </a:r>
          </a:p>
          <a:p>
            <a:r>
              <a:rPr lang="en-US" sz="500" dirty="0"/>
              <a:t> 3  10.99.14.2 (10.99.14.2)  54.965 </a:t>
            </a:r>
            <a:r>
              <a:rPr lang="en-US" sz="500" dirty="0" err="1"/>
              <a:t>ms</a:t>
            </a:r>
            <a:r>
              <a:rPr lang="en-US" sz="500" dirty="0"/>
              <a:t>  58.040 </a:t>
            </a:r>
            <a:r>
              <a:rPr lang="en-US" sz="500" dirty="0" err="1"/>
              <a:t>ms</a:t>
            </a:r>
            <a:r>
              <a:rPr lang="en-US" sz="500" dirty="0"/>
              <a:t>  65.082 </a:t>
            </a:r>
            <a:r>
              <a:rPr lang="en-US" sz="500" dirty="0" err="1"/>
              <a:t>ms</a:t>
            </a:r>
            <a:r>
              <a:rPr lang="en-US" sz="500" dirty="0"/>
              <a:t>           99-blf02</a:t>
            </a:r>
          </a:p>
          <a:p>
            <a:r>
              <a:rPr lang="en-US" sz="500" dirty="0"/>
              <a:t> 4  10.99.14.1 (10.99.14.1)  67.344 </a:t>
            </a:r>
            <a:r>
              <a:rPr lang="en-US" sz="500" dirty="0" err="1"/>
              <a:t>ms</a:t>
            </a:r>
            <a:r>
              <a:rPr lang="en-US" sz="500" dirty="0"/>
              <a:t>  73.256 </a:t>
            </a:r>
            <a:r>
              <a:rPr lang="en-US" sz="500" dirty="0" err="1"/>
              <a:t>ms</a:t>
            </a:r>
            <a:r>
              <a:rPr lang="en-US" sz="500" dirty="0"/>
              <a:t>  75.254 </a:t>
            </a:r>
            <a:r>
              <a:rPr lang="en-US" sz="500" dirty="0" err="1"/>
              <a:t>ms</a:t>
            </a:r>
            <a:r>
              <a:rPr lang="en-US" sz="500" dirty="0"/>
              <a:t>           99-blf01</a:t>
            </a:r>
          </a:p>
          <a:p>
            <a:r>
              <a:rPr lang="en-US" sz="500" dirty="0"/>
              <a:t> 5  * * *                                                              99-fw01</a:t>
            </a:r>
          </a:p>
          <a:p>
            <a:r>
              <a:rPr lang="en-US" sz="500" dirty="0"/>
              <a:t> 6  10.99.4.1 (10.99.4.1)  99.384 </a:t>
            </a:r>
            <a:r>
              <a:rPr lang="en-US" sz="500" dirty="0" err="1"/>
              <a:t>ms</a:t>
            </a:r>
            <a:r>
              <a:rPr lang="en-US" sz="500" dirty="0"/>
              <a:t>  96.924 </a:t>
            </a:r>
            <a:r>
              <a:rPr lang="en-US" sz="500" dirty="0" err="1"/>
              <a:t>ms</a:t>
            </a:r>
            <a:r>
              <a:rPr lang="en-US" sz="500" dirty="0"/>
              <a:t>  98.445 </a:t>
            </a:r>
            <a:r>
              <a:rPr lang="en-US" sz="500" dirty="0" err="1"/>
              <a:t>ms</a:t>
            </a:r>
            <a:r>
              <a:rPr lang="en-US" sz="500" dirty="0"/>
              <a:t>             99-blf01</a:t>
            </a:r>
          </a:p>
          <a:p>
            <a:r>
              <a:rPr lang="en-US" sz="500" dirty="0"/>
              <a:t> 7  192.168.4.254 (192.168.4.254)  150.413 </a:t>
            </a:r>
            <a:r>
              <a:rPr lang="en-US" sz="500" dirty="0" err="1"/>
              <a:t>ms</a:t>
            </a:r>
            <a:r>
              <a:rPr lang="en-US" sz="500" dirty="0"/>
              <a:t>  148.469 </a:t>
            </a:r>
            <a:r>
              <a:rPr lang="en-US" sz="500" dirty="0" err="1"/>
              <a:t>ms</a:t>
            </a:r>
            <a:r>
              <a:rPr lang="en-US" sz="500" dirty="0"/>
              <a:t>  144.229 </a:t>
            </a:r>
            <a:r>
              <a:rPr lang="en-US" sz="500" dirty="0" err="1"/>
              <a:t>ms</a:t>
            </a:r>
            <a:r>
              <a:rPr lang="en-US" sz="500" dirty="0"/>
              <a:t>  AG 99-lf03/04</a:t>
            </a:r>
          </a:p>
          <a:p>
            <a:r>
              <a:rPr lang="en-US" sz="500" dirty="0"/>
              <a:t> 8  192.168.4.1 (192.168.4.1)  167.248 </a:t>
            </a:r>
            <a:r>
              <a:rPr lang="en-US" sz="500" dirty="0" err="1"/>
              <a:t>ms</a:t>
            </a:r>
            <a:r>
              <a:rPr lang="en-US" sz="500" dirty="0"/>
              <a:t>  160.558 </a:t>
            </a:r>
            <a:r>
              <a:rPr lang="en-US" sz="500" dirty="0" err="1"/>
              <a:t>ms</a:t>
            </a:r>
            <a:r>
              <a:rPr lang="en-US" sz="500" dirty="0"/>
              <a:t>  186.858 </a:t>
            </a:r>
            <a:r>
              <a:rPr lang="en-US" sz="500" dirty="0" err="1"/>
              <a:t>ms</a:t>
            </a:r>
            <a:r>
              <a:rPr lang="en-US" sz="500" dirty="0"/>
              <a:t>      99-esx4</a:t>
            </a:r>
          </a:p>
          <a:p>
            <a:endParaRPr lang="en-US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62FA06-4D5C-6152-979E-77E91D4AE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2510" y="878674"/>
            <a:ext cx="3734550" cy="3939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4174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2"/>
          <p:cNvSpPr txBox="1">
            <a:spLocks noGrp="1"/>
          </p:cNvSpPr>
          <p:nvPr>
            <p:ph type="title"/>
          </p:nvPr>
        </p:nvSpPr>
        <p:spPr>
          <a:xfrm>
            <a:off x="500550" y="330724"/>
            <a:ext cx="8520600" cy="109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3400"/>
              <a:t>Выводы</a:t>
            </a:r>
            <a:endParaRPr sz="3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/>
          </a:p>
        </p:txBody>
      </p:sp>
      <p:graphicFrame>
        <p:nvGraphicFramePr>
          <p:cNvPr id="213" name="Google Shape;213;p42"/>
          <p:cNvGraphicFramePr/>
          <p:nvPr>
            <p:extLst>
              <p:ext uri="{D42A27DB-BD31-4B8C-83A1-F6EECF244321}">
                <p14:modId xmlns:p14="http://schemas.microsoft.com/office/powerpoint/2010/main" val="786737038"/>
              </p:ext>
            </p:extLst>
          </p:nvPr>
        </p:nvGraphicFramePr>
        <p:xfrm>
          <a:off x="776118" y="917424"/>
          <a:ext cx="7239000" cy="3555944"/>
        </p:xfrm>
        <a:graphic>
          <a:graphicData uri="http://schemas.openxmlformats.org/drawingml/2006/table">
            <a:tbl>
              <a:tblPr>
                <a:noFill/>
                <a:tableStyleId>{F0C2CE22-A964-4AE2-AB75-7630F5C3AC06}</a:tableStyleId>
              </a:tblPr>
              <a:tblGrid>
                <a:gridCol w="489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4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1.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В ходе проектной работы было настроено два полноценных отказоустойчивых масштабируемых  POD с использованием оборудования разных вендоров Huawei,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Arista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ru-RU" sz="14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Nexus</a:t>
                      </a:r>
                      <a:r>
                        <a:rPr lang="ru-RU" sz="14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.</a:t>
                      </a: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2.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Были протестированы разные методики резервирования и отказоустойчивости каналов VPC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MLAG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Multihoming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ESI</a:t>
                      </a: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600" b="1">
                          <a:solidFill>
                            <a:srgbClr val="3F299A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</a:rPr>
                        <a:t>3.</a:t>
                      </a:r>
                      <a:endParaRPr sz="1600" b="1">
                        <a:solidFill>
                          <a:srgbClr val="3F299A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Настроены</a:t>
                      </a:r>
                      <a:r>
                        <a:rPr lang="en-US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и протестированы разные типы связности через 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vxlan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- L2 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mac-vrf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растянутый на обе площадки. L3 - разные типы VRF  c </a:t>
                      </a:r>
                      <a:r>
                        <a:rPr lang="ru-RU" sz="1600" b="0" i="0" u="none" strike="noStrike" cap="none" dirty="0" err="1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терминацией</a:t>
                      </a:r>
                      <a:r>
                        <a:rPr lang="ru-RU" sz="16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 на FW и без.</a:t>
                      </a: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ru-RU" sz="1600" b="0" i="0" u="none" strike="noStrike" cap="none" dirty="0">
                        <a:solidFill>
                          <a:srgbClr val="000000"/>
                        </a:solidFill>
                        <a:effectLst/>
                        <a:latin typeface="Arial"/>
                        <a:ea typeface="Roboto"/>
                        <a:cs typeface="Arial"/>
                        <a:sym typeface="Arial"/>
                      </a:endParaRPr>
                    </a:p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198000" marR="91425" marT="91425" marB="91425">
                    <a:lnL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dirty="0">
                        <a:solidFill>
                          <a:srgbClr val="9857F3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198000" marR="91425" marT="91425" marB="91425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FC1F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43"/>
          <p:cNvSpPr txBox="1"/>
          <p:nvPr/>
        </p:nvSpPr>
        <p:spPr>
          <a:xfrm>
            <a:off x="387050" y="1844625"/>
            <a:ext cx="75843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4000" b="1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Вопросы и рекомендации</a:t>
            </a:r>
            <a:endParaRPr sz="4500" b="1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3" name="Google Shape;223;p43"/>
          <p:cNvSpPr txBox="1"/>
          <p:nvPr/>
        </p:nvSpPr>
        <p:spPr>
          <a:xfrm>
            <a:off x="1214696" y="3061975"/>
            <a:ext cx="1927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есть вопросы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43"/>
          <p:cNvSpPr txBox="1"/>
          <p:nvPr/>
        </p:nvSpPr>
        <p:spPr>
          <a:xfrm>
            <a:off x="4934996" y="3061975"/>
            <a:ext cx="2145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ru" sz="15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если вопросов нет</a:t>
            </a:r>
            <a:endParaRPr sz="150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5" name="Google Shape;225;p43"/>
          <p:cNvSpPr txBox="1"/>
          <p:nvPr/>
        </p:nvSpPr>
        <p:spPr>
          <a:xfrm>
            <a:off x="7230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+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6" name="Google Shape;226;p43"/>
          <p:cNvSpPr txBox="1"/>
          <p:nvPr/>
        </p:nvSpPr>
        <p:spPr>
          <a:xfrm>
            <a:off x="4443300" y="2846425"/>
            <a:ext cx="4917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4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– </a:t>
            </a:r>
            <a:endParaRPr sz="4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" name="Google Shape;234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1602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44"/>
          <p:cNvSpPr txBox="1">
            <a:spLocks noGrp="1"/>
          </p:cNvSpPr>
          <p:nvPr>
            <p:ph type="title" idx="4294967295"/>
          </p:nvPr>
        </p:nvSpPr>
        <p:spPr>
          <a:xfrm>
            <a:off x="629000" y="1932525"/>
            <a:ext cx="7295100" cy="195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sz="5000">
                <a:solidFill>
                  <a:schemeClr val="lt1"/>
                </a:solidFill>
              </a:rPr>
              <a:t>Спасибо за внимание!</a:t>
            </a:r>
            <a:endParaRPr sz="5000">
              <a:solidFill>
                <a:schemeClr val="lt1"/>
              </a:solidFill>
            </a:endParaRPr>
          </a:p>
        </p:txBody>
      </p:sp>
      <p:pic>
        <p:nvPicPr>
          <p:cNvPr id="236" name="Google Shape;236;p44" title="marker-graduating-cap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300" y="231871"/>
            <a:ext cx="2270875" cy="3042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45" title="ролик_об_отусе_blue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18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Светлая тема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1993</Words>
  <Application>Microsoft Office PowerPoint</Application>
  <PresentationFormat>Экран (16:9)</PresentationFormat>
  <Paragraphs>234</Paragraphs>
  <Slides>20</Slides>
  <Notes>20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20</vt:i4>
      </vt:variant>
    </vt:vector>
  </HeadingPairs>
  <TitlesOfParts>
    <vt:vector size="26" baseType="lpstr">
      <vt:lpstr>Courier New</vt:lpstr>
      <vt:lpstr>Roboto Medium</vt:lpstr>
      <vt:lpstr>Arial</vt:lpstr>
      <vt:lpstr>Roboto</vt:lpstr>
      <vt:lpstr>Светлая тема</vt:lpstr>
      <vt:lpstr>Светлая тема</vt:lpstr>
      <vt:lpstr>Презентация PowerPoint</vt:lpstr>
      <vt:lpstr>Защита проекта Тема: Огранизация связности двух ЦОД с применением дизайна Clos topology Multisite    </vt:lpstr>
      <vt:lpstr>План защиты</vt:lpstr>
      <vt:lpstr>Презентация PowerPoint</vt:lpstr>
      <vt:lpstr>Какие технологии использовались </vt:lpstr>
      <vt:lpstr>Общая схема проекта</vt:lpstr>
      <vt:lpstr>Детали</vt:lpstr>
      <vt:lpstr>Первый кейс – stretched Vlan 99 Схема</vt:lpstr>
      <vt:lpstr>Первый кейс – stretched Vlan 99</vt:lpstr>
      <vt:lpstr>Первый кейс – stretched Vlan 99</vt:lpstr>
      <vt:lpstr>Второй кейс – stretched VRF13 Схема</vt:lpstr>
      <vt:lpstr>Второй кейс – stretched VRF_13</vt:lpstr>
      <vt:lpstr>Второй кейс – stretched VRF_13</vt:lpstr>
      <vt:lpstr>Третий кейс –VRF14 Схема</vt:lpstr>
      <vt:lpstr>Третий кейс –VRF14</vt:lpstr>
      <vt:lpstr>Третий кейс –VRF14</vt:lpstr>
      <vt:lpstr>Выводы </vt:lpstr>
      <vt:lpstr>Презентация PowerPoint</vt:lpstr>
      <vt:lpstr>Спасибо за внимание!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Chy Hymbrik</dc:creator>
  <cp:lastModifiedBy>Chy Hymbrik</cp:lastModifiedBy>
  <cp:revision>3</cp:revision>
  <dcterms:modified xsi:type="dcterms:W3CDTF">2026-03-18T11:22:33Z</dcterms:modified>
</cp:coreProperties>
</file>